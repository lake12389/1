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6"/>
  </p:notesMasterIdLst>
  <p:handoutMasterIdLst>
    <p:handoutMasterId r:id="rId53"/>
  </p:handoutMasterIdLst>
  <p:sldIdLst>
    <p:sldId id="311" r:id="rId3"/>
    <p:sldId id="574" r:id="rId4"/>
    <p:sldId id="774" r:id="rId5"/>
    <p:sldId id="316" r:id="rId7"/>
    <p:sldId id="1128" r:id="rId8"/>
    <p:sldId id="1122" r:id="rId9"/>
    <p:sldId id="1123" r:id="rId10"/>
    <p:sldId id="1124" r:id="rId11"/>
    <p:sldId id="1137" r:id="rId12"/>
    <p:sldId id="1138" r:id="rId13"/>
    <p:sldId id="1139" r:id="rId14"/>
    <p:sldId id="1130" r:id="rId15"/>
    <p:sldId id="1131" r:id="rId16"/>
    <p:sldId id="1132" r:id="rId17"/>
    <p:sldId id="1129" r:id="rId18"/>
    <p:sldId id="1126" r:id="rId19"/>
    <p:sldId id="1127" r:id="rId20"/>
    <p:sldId id="1140" r:id="rId21"/>
    <p:sldId id="1141" r:id="rId22"/>
    <p:sldId id="1135" r:id="rId23"/>
    <p:sldId id="1136" r:id="rId24"/>
    <p:sldId id="1144" r:id="rId25"/>
    <p:sldId id="1143" r:id="rId26"/>
    <p:sldId id="1145" r:id="rId27"/>
    <p:sldId id="1146" r:id="rId28"/>
    <p:sldId id="1147" r:id="rId29"/>
    <p:sldId id="1148" r:id="rId30"/>
    <p:sldId id="1149" r:id="rId31"/>
    <p:sldId id="1150" r:id="rId32"/>
    <p:sldId id="1151" r:id="rId33"/>
    <p:sldId id="1152" r:id="rId34"/>
    <p:sldId id="1168" r:id="rId35"/>
    <p:sldId id="1169" r:id="rId36"/>
    <p:sldId id="1153" r:id="rId37"/>
    <p:sldId id="1154" r:id="rId38"/>
    <p:sldId id="1155" r:id="rId39"/>
    <p:sldId id="1156" r:id="rId40"/>
    <p:sldId id="1157" r:id="rId41"/>
    <p:sldId id="1158" r:id="rId42"/>
    <p:sldId id="1159" r:id="rId43"/>
    <p:sldId id="1160" r:id="rId44"/>
    <p:sldId id="1161" r:id="rId45"/>
    <p:sldId id="1162" r:id="rId46"/>
    <p:sldId id="1163" r:id="rId47"/>
    <p:sldId id="1164" r:id="rId48"/>
    <p:sldId id="1165" r:id="rId49"/>
    <p:sldId id="1166" r:id="rId50"/>
    <p:sldId id="1167" r:id="rId51"/>
    <p:sldId id="313" r:id="rId52"/>
  </p:sldIdLst>
  <p:sldSz cx="12190095" cy="6858000"/>
  <p:notesSz cx="9144000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830C450-1645-4FD9-9C04-15E906FB1CC8}">
          <p14:sldIdLst>
            <p14:sldId id="311"/>
            <p14:sldId id="574"/>
            <p14:sldId id="774"/>
          </p14:sldIdLst>
        </p14:section>
        <p14:section name="讯飞开放平台API使用" id="{4207D469-4398-4B76-A8CB-9711AB64BAAF}">
          <p14:sldIdLst>
            <p14:sldId id="316"/>
            <p14:sldId id="1128"/>
            <p14:sldId id="1122"/>
            <p14:sldId id="1123"/>
            <p14:sldId id="1124"/>
            <p14:sldId id="1137"/>
            <p14:sldId id="1138"/>
            <p14:sldId id="1139"/>
            <p14:sldId id="1130"/>
            <p14:sldId id="1131"/>
            <p14:sldId id="1132"/>
            <p14:sldId id="1129"/>
            <p14:sldId id="1126"/>
            <p14:sldId id="1127"/>
            <p14:sldId id="1140"/>
            <p14:sldId id="1141"/>
            <p14:sldId id="1135"/>
            <p14:sldId id="1136"/>
          </p14:sldIdLst>
        </p14:section>
        <p14:section name="智能语音聊天系统流程" id="{859df279-d785-477d-8e3b-b4a109644eaa}">
          <p14:sldIdLst>
            <p14:sldId id="1144"/>
            <p14:sldId id="1143"/>
            <p14:sldId id="1145"/>
            <p14:sldId id="1146"/>
            <p14:sldId id="1147"/>
            <p14:sldId id="1148"/>
            <p14:sldId id="1149"/>
          </p14:sldIdLst>
        </p14:section>
        <p14:section name="智能语音聊天系统实战" id="{0d3df361-63e3-447b-aa0a-7fe2d9b86211}">
          <p14:sldIdLst>
            <p14:sldId id="1150"/>
            <p14:sldId id="1151"/>
            <p14:sldId id="1152"/>
            <p14:sldId id="1168"/>
            <p14:sldId id="1169"/>
            <p14:sldId id="1153"/>
            <p14:sldId id="1154"/>
            <p14:sldId id="1155"/>
            <p14:sldId id="1156"/>
            <p14:sldId id="1157"/>
            <p14:sldId id="1158"/>
            <p14:sldId id="1159"/>
            <p14:sldId id="1160"/>
            <p14:sldId id="1161"/>
            <p14:sldId id="1162"/>
            <p14:sldId id="1163"/>
            <p14:sldId id="1164"/>
            <p14:sldId id="1165"/>
            <p14:sldId id="1166"/>
            <p14:sldId id="1167"/>
          </p14:sldIdLst>
        </p14:section>
        <p14:section name="延申阅读" id="{93A10159-70DD-460D-993E-31859F62E571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54" autoAdjust="0"/>
    <p:restoredTop sz="83586" autoAdjust="0"/>
  </p:normalViewPr>
  <p:slideViewPr>
    <p:cSldViewPr showGuides="1">
      <p:cViewPr varScale="1">
        <p:scale>
          <a:sx n="97" d="100"/>
          <a:sy n="97" d="100"/>
        </p:scale>
        <p:origin x="774" y="84"/>
      </p:cViewPr>
      <p:guideLst>
        <p:guide orient="horz" pos="2135"/>
        <p:guide pos="38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3858"/>
    </p:cViewPr>
  </p:sorterViewPr>
  <p:notesViewPr>
    <p:cSldViewPr>
      <p:cViewPr varScale="1">
        <p:scale>
          <a:sx n="116" d="100"/>
          <a:sy n="116" d="100"/>
        </p:scale>
        <p:origin x="238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EDA3E3-5FCC-4F2B-811B-AAA55AD7EE8B}" type="doc">
      <dgm:prSet loTypeId="urn:microsoft.com/office/officeart/2005/8/layout/bProcess2" loCatId="process" qsTypeId="urn:microsoft.com/office/officeart/2005/8/quickstyle/simple1" qsCatId="simple" csTypeId="urn:microsoft.com/office/officeart/2005/8/colors/colorful1" csCatId="colorful" phldr="1"/>
      <dgm:spPr/>
    </dgm:pt>
    <dgm:pt modelId="{72C17ACE-46E1-4A1D-911E-100FC94025B5}">
      <dgm:prSet phldrT="[文本]"/>
      <dgm:spPr/>
      <dgm:t>
        <a:bodyPr/>
        <a:lstStyle/>
        <a:p>
          <a:r>
            <a:rPr lang="zh-CN" altLang="en-US" dirty="0"/>
            <a:t>输入待听写的音频</a:t>
          </a:r>
        </a:p>
      </dgm:t>
    </dgm:pt>
    <dgm:pt modelId="{87800733-AF3C-4010-9E0D-43744D71EC66}" cxnId="{D5226695-EC54-41DF-8239-9081A3F14008}" type="parTrans">
      <dgm:prSet/>
      <dgm:spPr/>
      <dgm:t>
        <a:bodyPr/>
        <a:lstStyle/>
        <a:p>
          <a:endParaRPr lang="zh-CN" altLang="en-US"/>
        </a:p>
      </dgm:t>
    </dgm:pt>
    <dgm:pt modelId="{B3D199A0-C7B2-4863-889F-07DD259DF0A4}" cxnId="{D5226695-EC54-41DF-8239-9081A3F14008}" type="sibTrans">
      <dgm:prSet/>
      <dgm:spPr/>
      <dgm:t>
        <a:bodyPr/>
        <a:lstStyle/>
        <a:p>
          <a:endParaRPr lang="zh-CN" altLang="en-US"/>
        </a:p>
      </dgm:t>
    </dgm:pt>
    <dgm:pt modelId="{CBBFDA53-5CF2-43BD-8F65-999BFC600944}">
      <dgm:prSet phldrT="[文本]"/>
      <dgm:spPr/>
      <dgm:t>
        <a:bodyPr/>
        <a:lstStyle/>
        <a:p>
          <a:r>
            <a:rPr lang="zh-CN" altLang="en-US" dirty="0"/>
            <a:t>语音听写接口模块并将结果保存到文件中</a:t>
          </a:r>
        </a:p>
      </dgm:t>
    </dgm:pt>
    <dgm:pt modelId="{621608DC-1115-4293-95A0-FA460C355171}" cxnId="{7ACB3CE1-D9F9-4E9E-A503-C85CE6869A5C}" type="parTrans">
      <dgm:prSet/>
      <dgm:spPr/>
      <dgm:t>
        <a:bodyPr/>
        <a:lstStyle/>
        <a:p>
          <a:endParaRPr lang="zh-CN" altLang="en-US"/>
        </a:p>
      </dgm:t>
    </dgm:pt>
    <dgm:pt modelId="{151CB0F1-89F7-4DF8-8F80-368591C8631C}" cxnId="{7ACB3CE1-D9F9-4E9E-A503-C85CE6869A5C}" type="sibTrans">
      <dgm:prSet/>
      <dgm:spPr/>
      <dgm:t>
        <a:bodyPr/>
        <a:lstStyle/>
        <a:p>
          <a:endParaRPr lang="zh-CN" altLang="en-US"/>
        </a:p>
      </dgm:t>
    </dgm:pt>
    <dgm:pt modelId="{CBC93FAA-1C12-4B1E-BE15-0D0B1BE017D5}">
      <dgm:prSet phldrT="[文本]"/>
      <dgm:spPr>
        <a:solidFill>
          <a:schemeClr val="accent5"/>
        </a:solidFill>
      </dgm:spPr>
      <dgm:t>
        <a:bodyPr/>
        <a:lstStyle/>
        <a:p>
          <a:r>
            <a:rPr lang="zh-CN" altLang="en-US" dirty="0"/>
            <a:t>读取文件获取听写结果</a:t>
          </a:r>
        </a:p>
      </dgm:t>
    </dgm:pt>
    <dgm:pt modelId="{298F6AE0-B0A0-44C0-A57B-E8B0CA5A5CE8}" cxnId="{E2AF3C27-C112-4F58-9A49-98CE3603D06E}" type="parTrans">
      <dgm:prSet/>
      <dgm:spPr/>
      <dgm:t>
        <a:bodyPr/>
        <a:lstStyle/>
        <a:p>
          <a:endParaRPr lang="zh-CN" altLang="en-US"/>
        </a:p>
      </dgm:t>
    </dgm:pt>
    <dgm:pt modelId="{0348B19A-794E-47F3-89AF-06669F199248}" cxnId="{E2AF3C27-C112-4F58-9A49-98CE3603D06E}" type="sibTrans">
      <dgm:prSet/>
      <dgm:spPr/>
      <dgm:t>
        <a:bodyPr/>
        <a:lstStyle/>
        <a:p>
          <a:endParaRPr lang="zh-CN" altLang="en-US"/>
        </a:p>
      </dgm:t>
    </dgm:pt>
    <dgm:pt modelId="{96D2E56B-F4E4-4594-B4E9-25B7A3AB2CBE}" type="pres">
      <dgm:prSet presAssocID="{BBEDA3E3-5FCC-4F2B-811B-AAA55AD7EE8B}" presName="diagram" presStyleCnt="0">
        <dgm:presLayoutVars>
          <dgm:dir/>
          <dgm:resizeHandles/>
        </dgm:presLayoutVars>
      </dgm:prSet>
      <dgm:spPr/>
    </dgm:pt>
    <dgm:pt modelId="{A8E53772-4BF5-41E9-8010-CA9A519645FD}" type="pres">
      <dgm:prSet presAssocID="{72C17ACE-46E1-4A1D-911E-100FC94025B5}" presName="firs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EBAA96-A163-4FCA-88E7-2F8834E88513}" type="pres">
      <dgm:prSet presAssocID="{B3D199A0-C7B2-4863-889F-07DD259DF0A4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F469A1B8-83B5-4DB7-B758-489FB24731D5}" type="pres">
      <dgm:prSet presAssocID="{CBBFDA53-5CF2-43BD-8F65-999BFC600944}" presName="middleNode" presStyleCnt="0"/>
      <dgm:spPr/>
    </dgm:pt>
    <dgm:pt modelId="{88229C95-A0FA-47FE-A01D-78CF668B7E99}" type="pres">
      <dgm:prSet presAssocID="{CBBFDA53-5CF2-43BD-8F65-999BFC600944}" presName="padding" presStyleLbl="node1" presStyleIdx="0" presStyleCnt="3"/>
      <dgm:spPr/>
    </dgm:pt>
    <dgm:pt modelId="{FFB954E0-49AB-412A-B721-E34993AFB762}" type="pres">
      <dgm:prSet presAssocID="{CBBFDA53-5CF2-43BD-8F65-999BFC600944}" presName="shape" presStyleLbl="node1" presStyleIdx="1" presStyleCnt="3" custScaleX="135544" custScaleY="12103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4BC69D-76BA-447F-92BE-2729B9DA9D4A}" type="pres">
      <dgm:prSet presAssocID="{151CB0F1-89F7-4DF8-8F80-368591C8631C}" presName="sibTrans" presStyleLbl="sibTrans2D1" presStyleIdx="1" presStyleCnt="2"/>
      <dgm:spPr/>
      <dgm:t>
        <a:bodyPr/>
        <a:lstStyle/>
        <a:p>
          <a:endParaRPr lang="zh-CN" altLang="en-US"/>
        </a:p>
      </dgm:t>
    </dgm:pt>
    <dgm:pt modelId="{ED9EEB51-CA38-4A42-8AAA-9E68649C3647}" type="pres">
      <dgm:prSet presAssocID="{CBC93FAA-1C12-4B1E-BE15-0D0B1BE017D5}" presName="las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A827C83-9151-495E-9BC3-B28BAF3AA305}" type="presOf" srcId="{B3D199A0-C7B2-4863-889F-07DD259DF0A4}" destId="{73EBAA96-A163-4FCA-88E7-2F8834E88513}" srcOrd="0" destOrd="0" presId="urn:microsoft.com/office/officeart/2005/8/layout/bProcess2"/>
    <dgm:cxn modelId="{126468F9-3275-41D8-AD0B-A62B927FC958}" type="presOf" srcId="{CBBFDA53-5CF2-43BD-8F65-999BFC600944}" destId="{FFB954E0-49AB-412A-B721-E34993AFB762}" srcOrd="0" destOrd="0" presId="urn:microsoft.com/office/officeart/2005/8/layout/bProcess2"/>
    <dgm:cxn modelId="{49E48649-4BF2-4DDD-8FFA-2F2AF44B95EE}" type="presOf" srcId="{72C17ACE-46E1-4A1D-911E-100FC94025B5}" destId="{A8E53772-4BF5-41E9-8010-CA9A519645FD}" srcOrd="0" destOrd="0" presId="urn:microsoft.com/office/officeart/2005/8/layout/bProcess2"/>
    <dgm:cxn modelId="{0697197E-686A-4A06-A575-9E6D567B712D}" type="presOf" srcId="{BBEDA3E3-5FCC-4F2B-811B-AAA55AD7EE8B}" destId="{96D2E56B-F4E4-4594-B4E9-25B7A3AB2CBE}" srcOrd="0" destOrd="0" presId="urn:microsoft.com/office/officeart/2005/8/layout/bProcess2"/>
    <dgm:cxn modelId="{F495EACE-5B66-41FE-ABF8-520C83AA8B1A}" type="presOf" srcId="{CBC93FAA-1C12-4B1E-BE15-0D0B1BE017D5}" destId="{ED9EEB51-CA38-4A42-8AAA-9E68649C3647}" srcOrd="0" destOrd="0" presId="urn:microsoft.com/office/officeart/2005/8/layout/bProcess2"/>
    <dgm:cxn modelId="{7ACB3CE1-D9F9-4E9E-A503-C85CE6869A5C}" srcId="{BBEDA3E3-5FCC-4F2B-811B-AAA55AD7EE8B}" destId="{CBBFDA53-5CF2-43BD-8F65-999BFC600944}" srcOrd="1" destOrd="0" parTransId="{621608DC-1115-4293-95A0-FA460C355171}" sibTransId="{151CB0F1-89F7-4DF8-8F80-368591C8631C}"/>
    <dgm:cxn modelId="{E2AF3C27-C112-4F58-9A49-98CE3603D06E}" srcId="{BBEDA3E3-5FCC-4F2B-811B-AAA55AD7EE8B}" destId="{CBC93FAA-1C12-4B1E-BE15-0D0B1BE017D5}" srcOrd="2" destOrd="0" parTransId="{298F6AE0-B0A0-44C0-A57B-E8B0CA5A5CE8}" sibTransId="{0348B19A-794E-47F3-89AF-06669F199248}"/>
    <dgm:cxn modelId="{B087E548-31C6-4C1E-ADA6-DFD369CF540D}" type="presOf" srcId="{151CB0F1-89F7-4DF8-8F80-368591C8631C}" destId="{FD4BC69D-76BA-447F-92BE-2729B9DA9D4A}" srcOrd="0" destOrd="0" presId="urn:microsoft.com/office/officeart/2005/8/layout/bProcess2"/>
    <dgm:cxn modelId="{D5226695-EC54-41DF-8239-9081A3F14008}" srcId="{BBEDA3E3-5FCC-4F2B-811B-AAA55AD7EE8B}" destId="{72C17ACE-46E1-4A1D-911E-100FC94025B5}" srcOrd="0" destOrd="0" parTransId="{87800733-AF3C-4010-9E0D-43744D71EC66}" sibTransId="{B3D199A0-C7B2-4863-889F-07DD259DF0A4}"/>
    <dgm:cxn modelId="{F29EF659-E3F0-42F4-9281-3083F3637A0A}" type="presParOf" srcId="{96D2E56B-F4E4-4594-B4E9-25B7A3AB2CBE}" destId="{A8E53772-4BF5-41E9-8010-CA9A519645FD}" srcOrd="0" destOrd="0" presId="urn:microsoft.com/office/officeart/2005/8/layout/bProcess2"/>
    <dgm:cxn modelId="{DFDF540A-314D-4DA3-A160-52B7CF87908E}" type="presParOf" srcId="{96D2E56B-F4E4-4594-B4E9-25B7A3AB2CBE}" destId="{73EBAA96-A163-4FCA-88E7-2F8834E88513}" srcOrd="1" destOrd="0" presId="urn:microsoft.com/office/officeart/2005/8/layout/bProcess2"/>
    <dgm:cxn modelId="{091D76AC-4681-4861-8CCD-4A9848C9178E}" type="presParOf" srcId="{96D2E56B-F4E4-4594-B4E9-25B7A3AB2CBE}" destId="{F469A1B8-83B5-4DB7-B758-489FB24731D5}" srcOrd="2" destOrd="0" presId="urn:microsoft.com/office/officeart/2005/8/layout/bProcess2"/>
    <dgm:cxn modelId="{829C2302-7F12-48A1-9AAC-1C1A6BC183BD}" type="presParOf" srcId="{F469A1B8-83B5-4DB7-B758-489FB24731D5}" destId="{88229C95-A0FA-47FE-A01D-78CF668B7E99}" srcOrd="0" destOrd="0" presId="urn:microsoft.com/office/officeart/2005/8/layout/bProcess2"/>
    <dgm:cxn modelId="{B13FCC3A-F30C-4B9E-A570-848C03DF826E}" type="presParOf" srcId="{F469A1B8-83B5-4DB7-B758-489FB24731D5}" destId="{FFB954E0-49AB-412A-B721-E34993AFB762}" srcOrd="1" destOrd="0" presId="urn:microsoft.com/office/officeart/2005/8/layout/bProcess2"/>
    <dgm:cxn modelId="{7A751D7B-8507-48B6-9754-F6F33613FB30}" type="presParOf" srcId="{96D2E56B-F4E4-4594-B4E9-25B7A3AB2CBE}" destId="{FD4BC69D-76BA-447F-92BE-2729B9DA9D4A}" srcOrd="3" destOrd="0" presId="urn:microsoft.com/office/officeart/2005/8/layout/bProcess2"/>
    <dgm:cxn modelId="{FDC4FE2C-E34F-4F73-B81B-E7EB30C23B8F}" type="presParOf" srcId="{96D2E56B-F4E4-4594-B4E9-25B7A3AB2CBE}" destId="{ED9EEB51-CA38-4A42-8AAA-9E68649C3647}" srcOrd="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795866" cy="2015200"/>
        <a:chOff x="0" y="0"/>
        <a:chExt cx="9795866" cy="2015200"/>
      </a:xfrm>
    </dsp:grpSpPr>
    <dsp:sp modelId="{A8E53772-4BF5-41E9-8010-CA9A519645FD}">
      <dsp:nvSpPr>
        <dsp:cNvPr id="3" name="椭圆 2"/>
        <dsp:cNvSpPr/>
      </dsp:nvSpPr>
      <dsp:spPr bwMode="white">
        <a:xfrm>
          <a:off x="868139" y="750"/>
          <a:ext cx="2016093" cy="2016093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33020" tIns="33020" rIns="33020" bIns="3302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输入待听写的音频</a:t>
          </a:r>
        </a:p>
      </dsp:txBody>
      <dsp:txXfrm>
        <a:off x="868139" y="750"/>
        <a:ext cx="2016093" cy="2016093"/>
      </dsp:txXfrm>
    </dsp:sp>
    <dsp:sp modelId="{73EBAA96-A163-4FCA-88E7-2F8834E88513}">
      <dsp:nvSpPr>
        <dsp:cNvPr id="4" name="等腰三角形 3"/>
        <dsp:cNvSpPr/>
      </dsp:nvSpPr>
      <dsp:spPr bwMode="white">
        <a:xfrm rot="5397279">
          <a:off x="3202083" y="731434"/>
          <a:ext cx="705632" cy="552066"/>
        </a:xfrm>
        <a:prstGeom prst="triangle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 rot="5397279">
        <a:off x="3202083" y="731434"/>
        <a:ext cx="705632" cy="552066"/>
      </dsp:txXfrm>
    </dsp:sp>
    <dsp:sp modelId="{FFB954E0-49AB-412A-B721-E34993AFB762}">
      <dsp:nvSpPr>
        <dsp:cNvPr id="6" name="椭圆 5"/>
        <dsp:cNvSpPr/>
      </dsp:nvSpPr>
      <dsp:spPr bwMode="white">
        <a:xfrm>
          <a:off x="4225566" y="334037"/>
          <a:ext cx="1344734" cy="1344734"/>
        </a:xfrm>
        <a:prstGeom prst="ellipse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语音听写接口模块并将结果保存到文件中</a:t>
          </a:r>
        </a:p>
      </dsp:txBody>
      <dsp:txXfrm>
        <a:off x="4225566" y="334037"/>
        <a:ext cx="1344734" cy="1344734"/>
      </dsp:txXfrm>
    </dsp:sp>
    <dsp:sp modelId="{FD4BC69D-76BA-447F-92BE-2729B9DA9D4A}">
      <dsp:nvSpPr>
        <dsp:cNvPr id="7" name="等腰三角形 6"/>
        <dsp:cNvSpPr/>
      </dsp:nvSpPr>
      <dsp:spPr bwMode="white">
        <a:xfrm rot="5402720">
          <a:off x="5888151" y="731434"/>
          <a:ext cx="705632" cy="552066"/>
        </a:xfrm>
        <a:prstGeom prst="triangle">
          <a:avLst/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 rot="5402720">
        <a:off x="5888151" y="731434"/>
        <a:ext cx="705632" cy="552066"/>
      </dsp:txXfrm>
    </dsp:sp>
    <dsp:sp modelId="{ED9EEB51-CA38-4A42-8AAA-9E68649C3647}">
      <dsp:nvSpPr>
        <dsp:cNvPr id="8" name="椭圆 7"/>
        <dsp:cNvSpPr/>
      </dsp:nvSpPr>
      <dsp:spPr bwMode="white">
        <a:xfrm>
          <a:off x="6911634" y="750"/>
          <a:ext cx="2016093" cy="2016093"/>
        </a:xfrm>
        <a:prstGeom prst="ellipse">
          <a:avLst/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33020" tIns="33020" rIns="33020" bIns="3302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读取文件获取听写结果</a:t>
          </a:r>
        </a:p>
      </dsp:txBody>
      <dsp:txXfrm>
        <a:off x="6911634" y="750"/>
        <a:ext cx="2016093" cy="2016093"/>
      </dsp:txXfrm>
    </dsp:sp>
    <dsp:sp modelId="{88229C95-A0FA-47FE-A01D-78CF668B7E99}">
      <dsp:nvSpPr>
        <dsp:cNvPr id="5" name="椭圆 4" hidden="1"/>
        <dsp:cNvSpPr/>
      </dsp:nvSpPr>
      <dsp:spPr>
        <a:xfrm>
          <a:off x="3889887" y="-1642"/>
          <a:ext cx="2016093" cy="2016093"/>
        </a:xfrm>
        <a:prstGeom prst="ellipse">
          <a:avLst/>
        </a:prstGeom>
      </dsp:spPr>
      <dsp:txXfrm>
        <a:off x="3889887" y="-1642"/>
        <a:ext cx="2016093" cy="2016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contDir" val="revDir"/>
          <dgm:param type="grDir" val="tL"/>
          <dgm:param type="flowDir" val="col"/>
        </dgm:alg>
      </dgm:if>
      <dgm:else name="Name2">
        <dgm:alg type="snake">
          <dgm:param type="contDir" val="revDir"/>
          <dgm:param type="grDir" val="tR"/>
          <dgm:param type="flowDir" val="co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srcNode" val="firstNode"/>
                    <dgm:param type="dstNode" val="shape"/>
                    <dgm:param type="begPts" val="auto"/>
                    <dgm:param type="endPts" val="auto"/>
                  </dgm:alg>
                </dgm:if>
                <dgm:if name="Name13" axis="self" ptType="sibTrans" func="revPos" op="equ" val="1">
                  <dgm:alg type="conn">
                    <dgm:param type="srcNode" val="shape"/>
                    <dgm:param type="dstNode" val="lastNode"/>
                    <dgm:param type="begPts" val="auto"/>
                    <dgm:param type="endPts" val="auto"/>
                  </dgm:alg>
                </dgm:if>
                <dgm:else name="Name14">
                  <dgm:alg type="conn">
                    <dgm:param type="srcNode" val="shape"/>
                    <dgm:param type="dstNode" val="shape"/>
                    <dgm:param type="begPts" val="auto"/>
                    <dgm:param type="endPts" val="auto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srcNode" val="firstNode"/>
                    <dgm:param type="dstNode" val="shape"/>
                    <dgm:param type="begPts" val="auto"/>
                    <dgm:param type="endPts" val="auto"/>
                  </dgm:alg>
                </dgm:if>
                <dgm:if name="Name18" axis="self" ptType="sibTrans" func="revPos" op="equ" val="1">
                  <dgm:alg type="conn">
                    <dgm:param type="srcNode" val="shape"/>
                    <dgm:param type="dstNode" val="lastNode"/>
                    <dgm:param type="begPts" val="auto"/>
                    <dgm:param type="endPts" val="auto"/>
                  </dgm:alg>
                </dgm:if>
                <dgm:else name="Name19">
                  <dgm:alg type="conn">
                    <dgm:param type="srcNode" val="shape"/>
                    <dgm:param type="dstNode" val="shape"/>
                    <dgm:param type="begPts" val="auto"/>
                    <dgm:param type="endPts" val="auto"/>
                  </dgm:alg>
                </dgm:else>
              </dgm:choose>
            </dgm:else>
          </dgm:choose>
          <dgm:shape xmlns:r="http://schemas.openxmlformats.org/officeDocument/2006/relationships" type="triangle" r:blip="" rot="90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23514B6-771B-4EC2-A47D-F941841C62E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186A45B-89A0-4072-95CA-E58597F922E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373F940-1A2C-4CE4-94A0-D6A659208EF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7588" y="514350"/>
            <a:ext cx="456882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360C71E-E05E-4FCB-A7CA-22F789644EB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60C71E-E05E-4FCB-A7CA-22F789644E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jpe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jpeg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5522913" y="1538288"/>
            <a:ext cx="6065837" cy="0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540375" y="2348880"/>
            <a:ext cx="6084888" cy="0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4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0088" y="1143000"/>
            <a:ext cx="6000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 bwMode="auto">
          <a:xfrm rot="10800000" flipV="1">
            <a:off x="7413625" y="4929188"/>
            <a:ext cx="3968750" cy="7143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 bwMode="auto">
          <a:xfrm rot="10800000" flipV="1">
            <a:off x="2841625" y="4929188"/>
            <a:ext cx="4572000" cy="7143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 rot="10800000" flipV="1">
            <a:off x="665163" y="4929188"/>
            <a:ext cx="1874837" cy="4603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0" name="组合 68"/>
          <p:cNvGrpSpPr/>
          <p:nvPr userDrawn="1"/>
        </p:nvGrpSpPr>
        <p:grpSpPr bwMode="auto">
          <a:xfrm>
            <a:off x="6738938" y="3357563"/>
            <a:ext cx="5275262" cy="1706562"/>
            <a:chOff x="6285683" y="3357562"/>
            <a:chExt cx="5728340" cy="1706460"/>
          </a:xfrm>
        </p:grpSpPr>
        <p:grpSp>
          <p:nvGrpSpPr>
            <p:cNvPr id="11" name="组合 47"/>
            <p:cNvGrpSpPr/>
            <p:nvPr/>
          </p:nvGrpSpPr>
          <p:grpSpPr bwMode="auto">
            <a:xfrm>
              <a:off x="6285683" y="4214819"/>
              <a:ext cx="3754594" cy="849203"/>
              <a:chOff x="6803694" y="2730013"/>
              <a:chExt cx="2816312" cy="849203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7937701" y="2796626"/>
                <a:ext cx="143529" cy="742905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7772190" y="2796626"/>
                <a:ext cx="144822" cy="74290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0" name="矩形 38"/>
              <p:cNvSpPr/>
              <p:nvPr/>
            </p:nvSpPr>
            <p:spPr>
              <a:xfrm flipH="1">
                <a:off x="6803694" y="3006163"/>
                <a:ext cx="813330" cy="244460"/>
              </a:xfrm>
              <a:custGeom>
                <a:avLst/>
                <a:gdLst>
                  <a:gd name="connsiteX0" fmla="*/ 0 w 718716"/>
                  <a:gd name="connsiteY0" fmla="*/ 0 h 244403"/>
                  <a:gd name="connsiteX1" fmla="*/ 718716 w 718716"/>
                  <a:gd name="connsiteY1" fmla="*/ 0 h 244403"/>
                  <a:gd name="connsiteX2" fmla="*/ 718716 w 718716"/>
                  <a:gd name="connsiteY2" fmla="*/ 244403 h 244403"/>
                  <a:gd name="connsiteX3" fmla="*/ 0 w 718716"/>
                  <a:gd name="connsiteY3" fmla="*/ 244403 h 244403"/>
                  <a:gd name="connsiteX4" fmla="*/ 0 w 718716"/>
                  <a:gd name="connsiteY4" fmla="*/ 0 h 244403"/>
                  <a:gd name="connsiteX0-1" fmla="*/ 0 w 765250"/>
                  <a:gd name="connsiteY0-2" fmla="*/ 0 h 244403"/>
                  <a:gd name="connsiteX1-3" fmla="*/ 718716 w 765250"/>
                  <a:gd name="connsiteY1-4" fmla="*/ 0 h 244403"/>
                  <a:gd name="connsiteX2-5" fmla="*/ 718716 w 765250"/>
                  <a:gd name="connsiteY2-6" fmla="*/ 244403 h 244403"/>
                  <a:gd name="connsiteX3-7" fmla="*/ 0 w 765250"/>
                  <a:gd name="connsiteY3-8" fmla="*/ 244403 h 244403"/>
                  <a:gd name="connsiteX4-9" fmla="*/ 0 w 765250"/>
                  <a:gd name="connsiteY4-10" fmla="*/ 0 h 244403"/>
                  <a:gd name="connsiteX0-11" fmla="*/ 0 w 783864"/>
                  <a:gd name="connsiteY0-12" fmla="*/ 0 h 244403"/>
                  <a:gd name="connsiteX1-13" fmla="*/ 718716 w 783864"/>
                  <a:gd name="connsiteY1-14" fmla="*/ 0 h 244403"/>
                  <a:gd name="connsiteX2-15" fmla="*/ 718716 w 783864"/>
                  <a:gd name="connsiteY2-16" fmla="*/ 244403 h 244403"/>
                  <a:gd name="connsiteX3-17" fmla="*/ 0 w 783864"/>
                  <a:gd name="connsiteY3-18" fmla="*/ 244403 h 244403"/>
                  <a:gd name="connsiteX4-19" fmla="*/ 0 w 783864"/>
                  <a:gd name="connsiteY4-20" fmla="*/ 0 h 244403"/>
                  <a:gd name="connsiteX0-21" fmla="*/ 0 w 798122"/>
                  <a:gd name="connsiteY0-22" fmla="*/ 0 h 244403"/>
                  <a:gd name="connsiteX1-23" fmla="*/ 718716 w 798122"/>
                  <a:gd name="connsiteY1-24" fmla="*/ 0 h 244403"/>
                  <a:gd name="connsiteX2-25" fmla="*/ 718716 w 798122"/>
                  <a:gd name="connsiteY2-26" fmla="*/ 244403 h 244403"/>
                  <a:gd name="connsiteX3-27" fmla="*/ 0 w 798122"/>
                  <a:gd name="connsiteY3-28" fmla="*/ 244403 h 244403"/>
                  <a:gd name="connsiteX4-29" fmla="*/ 0 w 798122"/>
                  <a:gd name="connsiteY4-30" fmla="*/ 0 h 244403"/>
                  <a:gd name="connsiteX0-31" fmla="*/ 0 w 800169"/>
                  <a:gd name="connsiteY0-32" fmla="*/ 0 h 244403"/>
                  <a:gd name="connsiteX1-33" fmla="*/ 718716 w 800169"/>
                  <a:gd name="connsiteY1-34" fmla="*/ 0 h 244403"/>
                  <a:gd name="connsiteX2-35" fmla="*/ 718716 w 800169"/>
                  <a:gd name="connsiteY2-36" fmla="*/ 244403 h 244403"/>
                  <a:gd name="connsiteX3-37" fmla="*/ 0 w 800169"/>
                  <a:gd name="connsiteY3-38" fmla="*/ 244403 h 244403"/>
                  <a:gd name="connsiteX4-39" fmla="*/ 0 w 800169"/>
                  <a:gd name="connsiteY4-40" fmla="*/ 0 h 244403"/>
                  <a:gd name="connsiteX0-41" fmla="*/ 0 w 806646"/>
                  <a:gd name="connsiteY0-42" fmla="*/ 0 h 244403"/>
                  <a:gd name="connsiteX1-43" fmla="*/ 718716 w 806646"/>
                  <a:gd name="connsiteY1-44" fmla="*/ 0 h 244403"/>
                  <a:gd name="connsiteX2-45" fmla="*/ 718716 w 806646"/>
                  <a:gd name="connsiteY2-46" fmla="*/ 244403 h 244403"/>
                  <a:gd name="connsiteX3-47" fmla="*/ 0 w 806646"/>
                  <a:gd name="connsiteY3-48" fmla="*/ 244403 h 244403"/>
                  <a:gd name="connsiteX4-49" fmla="*/ 0 w 806646"/>
                  <a:gd name="connsiteY4-50" fmla="*/ 0 h 244403"/>
                  <a:gd name="connsiteX0-51" fmla="*/ 0 w 813593"/>
                  <a:gd name="connsiteY0-52" fmla="*/ 0 h 244403"/>
                  <a:gd name="connsiteX1-53" fmla="*/ 718716 w 813593"/>
                  <a:gd name="connsiteY1-54" fmla="*/ 0 h 244403"/>
                  <a:gd name="connsiteX2-55" fmla="*/ 718716 w 813593"/>
                  <a:gd name="connsiteY2-56" fmla="*/ 244403 h 244403"/>
                  <a:gd name="connsiteX3-57" fmla="*/ 0 w 813593"/>
                  <a:gd name="connsiteY3-58" fmla="*/ 244403 h 244403"/>
                  <a:gd name="connsiteX4-59" fmla="*/ 0 w 813593"/>
                  <a:gd name="connsiteY4-60" fmla="*/ 0 h 2444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813593" h="244403">
                    <a:moveTo>
                      <a:pt x="0" y="0"/>
                    </a:moveTo>
                    <a:lnTo>
                      <a:pt x="718716" y="0"/>
                    </a:lnTo>
                    <a:cubicBezTo>
                      <a:pt x="823418" y="4687"/>
                      <a:pt x="865299" y="232737"/>
                      <a:pt x="718716" y="244403"/>
                    </a:cubicBezTo>
                    <a:lnTo>
                      <a:pt x="0" y="2444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1" name="矩形 38"/>
              <p:cNvSpPr/>
              <p:nvPr/>
            </p:nvSpPr>
            <p:spPr>
              <a:xfrm flipH="1">
                <a:off x="6886449" y="3036324"/>
                <a:ext cx="730574" cy="179377"/>
              </a:xfrm>
              <a:custGeom>
                <a:avLst/>
                <a:gdLst>
                  <a:gd name="connsiteX0" fmla="*/ 0 w 718716"/>
                  <a:gd name="connsiteY0" fmla="*/ 0 h 244403"/>
                  <a:gd name="connsiteX1" fmla="*/ 718716 w 718716"/>
                  <a:gd name="connsiteY1" fmla="*/ 0 h 244403"/>
                  <a:gd name="connsiteX2" fmla="*/ 718716 w 718716"/>
                  <a:gd name="connsiteY2" fmla="*/ 244403 h 244403"/>
                  <a:gd name="connsiteX3" fmla="*/ 0 w 718716"/>
                  <a:gd name="connsiteY3" fmla="*/ 244403 h 244403"/>
                  <a:gd name="connsiteX4" fmla="*/ 0 w 718716"/>
                  <a:gd name="connsiteY4" fmla="*/ 0 h 244403"/>
                  <a:gd name="connsiteX0-1" fmla="*/ 0 w 765250"/>
                  <a:gd name="connsiteY0-2" fmla="*/ 0 h 244403"/>
                  <a:gd name="connsiteX1-3" fmla="*/ 718716 w 765250"/>
                  <a:gd name="connsiteY1-4" fmla="*/ 0 h 244403"/>
                  <a:gd name="connsiteX2-5" fmla="*/ 718716 w 765250"/>
                  <a:gd name="connsiteY2-6" fmla="*/ 244403 h 244403"/>
                  <a:gd name="connsiteX3-7" fmla="*/ 0 w 765250"/>
                  <a:gd name="connsiteY3-8" fmla="*/ 244403 h 244403"/>
                  <a:gd name="connsiteX4-9" fmla="*/ 0 w 765250"/>
                  <a:gd name="connsiteY4-10" fmla="*/ 0 h 244403"/>
                  <a:gd name="connsiteX0-11" fmla="*/ 0 w 783864"/>
                  <a:gd name="connsiteY0-12" fmla="*/ 0 h 244403"/>
                  <a:gd name="connsiteX1-13" fmla="*/ 718716 w 783864"/>
                  <a:gd name="connsiteY1-14" fmla="*/ 0 h 244403"/>
                  <a:gd name="connsiteX2-15" fmla="*/ 718716 w 783864"/>
                  <a:gd name="connsiteY2-16" fmla="*/ 244403 h 244403"/>
                  <a:gd name="connsiteX3-17" fmla="*/ 0 w 783864"/>
                  <a:gd name="connsiteY3-18" fmla="*/ 244403 h 244403"/>
                  <a:gd name="connsiteX4-19" fmla="*/ 0 w 783864"/>
                  <a:gd name="connsiteY4-20" fmla="*/ 0 h 244403"/>
                  <a:gd name="connsiteX0-21" fmla="*/ 0 w 798122"/>
                  <a:gd name="connsiteY0-22" fmla="*/ 0 h 244403"/>
                  <a:gd name="connsiteX1-23" fmla="*/ 718716 w 798122"/>
                  <a:gd name="connsiteY1-24" fmla="*/ 0 h 244403"/>
                  <a:gd name="connsiteX2-25" fmla="*/ 718716 w 798122"/>
                  <a:gd name="connsiteY2-26" fmla="*/ 244403 h 244403"/>
                  <a:gd name="connsiteX3-27" fmla="*/ 0 w 798122"/>
                  <a:gd name="connsiteY3-28" fmla="*/ 244403 h 244403"/>
                  <a:gd name="connsiteX4-29" fmla="*/ 0 w 798122"/>
                  <a:gd name="connsiteY4-30" fmla="*/ 0 h 244403"/>
                  <a:gd name="connsiteX0-31" fmla="*/ 0 w 800169"/>
                  <a:gd name="connsiteY0-32" fmla="*/ 0 h 244403"/>
                  <a:gd name="connsiteX1-33" fmla="*/ 718716 w 800169"/>
                  <a:gd name="connsiteY1-34" fmla="*/ 0 h 244403"/>
                  <a:gd name="connsiteX2-35" fmla="*/ 718716 w 800169"/>
                  <a:gd name="connsiteY2-36" fmla="*/ 244403 h 244403"/>
                  <a:gd name="connsiteX3-37" fmla="*/ 0 w 800169"/>
                  <a:gd name="connsiteY3-38" fmla="*/ 244403 h 244403"/>
                  <a:gd name="connsiteX4-39" fmla="*/ 0 w 800169"/>
                  <a:gd name="connsiteY4-40" fmla="*/ 0 h 244403"/>
                  <a:gd name="connsiteX0-41" fmla="*/ 0 w 806646"/>
                  <a:gd name="connsiteY0-42" fmla="*/ 0 h 244403"/>
                  <a:gd name="connsiteX1-43" fmla="*/ 718716 w 806646"/>
                  <a:gd name="connsiteY1-44" fmla="*/ 0 h 244403"/>
                  <a:gd name="connsiteX2-45" fmla="*/ 718716 w 806646"/>
                  <a:gd name="connsiteY2-46" fmla="*/ 244403 h 244403"/>
                  <a:gd name="connsiteX3-47" fmla="*/ 0 w 806646"/>
                  <a:gd name="connsiteY3-48" fmla="*/ 244403 h 244403"/>
                  <a:gd name="connsiteX4-49" fmla="*/ 0 w 806646"/>
                  <a:gd name="connsiteY4-50" fmla="*/ 0 h 244403"/>
                  <a:gd name="connsiteX0-51" fmla="*/ 0 w 813593"/>
                  <a:gd name="connsiteY0-52" fmla="*/ 0 h 244403"/>
                  <a:gd name="connsiteX1-53" fmla="*/ 718716 w 813593"/>
                  <a:gd name="connsiteY1-54" fmla="*/ 0 h 244403"/>
                  <a:gd name="connsiteX2-55" fmla="*/ 718716 w 813593"/>
                  <a:gd name="connsiteY2-56" fmla="*/ 244403 h 244403"/>
                  <a:gd name="connsiteX3-57" fmla="*/ 0 w 813593"/>
                  <a:gd name="connsiteY3-58" fmla="*/ 244403 h 244403"/>
                  <a:gd name="connsiteX4-59" fmla="*/ 0 w 813593"/>
                  <a:gd name="connsiteY4-60" fmla="*/ 0 h 2444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813593" h="244403">
                    <a:moveTo>
                      <a:pt x="0" y="0"/>
                    </a:moveTo>
                    <a:lnTo>
                      <a:pt x="718716" y="0"/>
                    </a:lnTo>
                    <a:cubicBezTo>
                      <a:pt x="823418" y="4687"/>
                      <a:pt x="865299" y="232737"/>
                      <a:pt x="718716" y="244403"/>
                    </a:cubicBezTo>
                    <a:lnTo>
                      <a:pt x="0" y="2444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2" name="直角三角形 31"/>
              <p:cNvSpPr/>
              <p:nvPr/>
            </p:nvSpPr>
            <p:spPr>
              <a:xfrm flipH="1">
                <a:off x="6993772" y="3050611"/>
                <a:ext cx="623251" cy="165090"/>
              </a:xfrm>
              <a:prstGeom prst="rt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3" name="矩形 38"/>
              <p:cNvSpPr/>
              <p:nvPr/>
            </p:nvSpPr>
            <p:spPr>
              <a:xfrm flipH="1">
                <a:off x="6803694" y="3272847"/>
                <a:ext cx="813330" cy="244460"/>
              </a:xfrm>
              <a:custGeom>
                <a:avLst/>
                <a:gdLst>
                  <a:gd name="connsiteX0" fmla="*/ 0 w 718716"/>
                  <a:gd name="connsiteY0" fmla="*/ 0 h 244403"/>
                  <a:gd name="connsiteX1" fmla="*/ 718716 w 718716"/>
                  <a:gd name="connsiteY1" fmla="*/ 0 h 244403"/>
                  <a:gd name="connsiteX2" fmla="*/ 718716 w 718716"/>
                  <a:gd name="connsiteY2" fmla="*/ 244403 h 244403"/>
                  <a:gd name="connsiteX3" fmla="*/ 0 w 718716"/>
                  <a:gd name="connsiteY3" fmla="*/ 244403 h 244403"/>
                  <a:gd name="connsiteX4" fmla="*/ 0 w 718716"/>
                  <a:gd name="connsiteY4" fmla="*/ 0 h 244403"/>
                  <a:gd name="connsiteX0-1" fmla="*/ 0 w 765250"/>
                  <a:gd name="connsiteY0-2" fmla="*/ 0 h 244403"/>
                  <a:gd name="connsiteX1-3" fmla="*/ 718716 w 765250"/>
                  <a:gd name="connsiteY1-4" fmla="*/ 0 h 244403"/>
                  <a:gd name="connsiteX2-5" fmla="*/ 718716 w 765250"/>
                  <a:gd name="connsiteY2-6" fmla="*/ 244403 h 244403"/>
                  <a:gd name="connsiteX3-7" fmla="*/ 0 w 765250"/>
                  <a:gd name="connsiteY3-8" fmla="*/ 244403 h 244403"/>
                  <a:gd name="connsiteX4-9" fmla="*/ 0 w 765250"/>
                  <a:gd name="connsiteY4-10" fmla="*/ 0 h 244403"/>
                  <a:gd name="connsiteX0-11" fmla="*/ 0 w 783864"/>
                  <a:gd name="connsiteY0-12" fmla="*/ 0 h 244403"/>
                  <a:gd name="connsiteX1-13" fmla="*/ 718716 w 783864"/>
                  <a:gd name="connsiteY1-14" fmla="*/ 0 h 244403"/>
                  <a:gd name="connsiteX2-15" fmla="*/ 718716 w 783864"/>
                  <a:gd name="connsiteY2-16" fmla="*/ 244403 h 244403"/>
                  <a:gd name="connsiteX3-17" fmla="*/ 0 w 783864"/>
                  <a:gd name="connsiteY3-18" fmla="*/ 244403 h 244403"/>
                  <a:gd name="connsiteX4-19" fmla="*/ 0 w 783864"/>
                  <a:gd name="connsiteY4-20" fmla="*/ 0 h 244403"/>
                  <a:gd name="connsiteX0-21" fmla="*/ 0 w 798122"/>
                  <a:gd name="connsiteY0-22" fmla="*/ 0 h 244403"/>
                  <a:gd name="connsiteX1-23" fmla="*/ 718716 w 798122"/>
                  <a:gd name="connsiteY1-24" fmla="*/ 0 h 244403"/>
                  <a:gd name="connsiteX2-25" fmla="*/ 718716 w 798122"/>
                  <a:gd name="connsiteY2-26" fmla="*/ 244403 h 244403"/>
                  <a:gd name="connsiteX3-27" fmla="*/ 0 w 798122"/>
                  <a:gd name="connsiteY3-28" fmla="*/ 244403 h 244403"/>
                  <a:gd name="connsiteX4-29" fmla="*/ 0 w 798122"/>
                  <a:gd name="connsiteY4-30" fmla="*/ 0 h 244403"/>
                  <a:gd name="connsiteX0-31" fmla="*/ 0 w 800169"/>
                  <a:gd name="connsiteY0-32" fmla="*/ 0 h 244403"/>
                  <a:gd name="connsiteX1-33" fmla="*/ 718716 w 800169"/>
                  <a:gd name="connsiteY1-34" fmla="*/ 0 h 244403"/>
                  <a:gd name="connsiteX2-35" fmla="*/ 718716 w 800169"/>
                  <a:gd name="connsiteY2-36" fmla="*/ 244403 h 244403"/>
                  <a:gd name="connsiteX3-37" fmla="*/ 0 w 800169"/>
                  <a:gd name="connsiteY3-38" fmla="*/ 244403 h 244403"/>
                  <a:gd name="connsiteX4-39" fmla="*/ 0 w 800169"/>
                  <a:gd name="connsiteY4-40" fmla="*/ 0 h 244403"/>
                  <a:gd name="connsiteX0-41" fmla="*/ 0 w 806646"/>
                  <a:gd name="connsiteY0-42" fmla="*/ 0 h 244403"/>
                  <a:gd name="connsiteX1-43" fmla="*/ 718716 w 806646"/>
                  <a:gd name="connsiteY1-44" fmla="*/ 0 h 244403"/>
                  <a:gd name="connsiteX2-45" fmla="*/ 718716 w 806646"/>
                  <a:gd name="connsiteY2-46" fmla="*/ 244403 h 244403"/>
                  <a:gd name="connsiteX3-47" fmla="*/ 0 w 806646"/>
                  <a:gd name="connsiteY3-48" fmla="*/ 244403 h 244403"/>
                  <a:gd name="connsiteX4-49" fmla="*/ 0 w 806646"/>
                  <a:gd name="connsiteY4-50" fmla="*/ 0 h 244403"/>
                  <a:gd name="connsiteX0-51" fmla="*/ 0 w 813593"/>
                  <a:gd name="connsiteY0-52" fmla="*/ 0 h 244403"/>
                  <a:gd name="connsiteX1-53" fmla="*/ 718716 w 813593"/>
                  <a:gd name="connsiteY1-54" fmla="*/ 0 h 244403"/>
                  <a:gd name="connsiteX2-55" fmla="*/ 718716 w 813593"/>
                  <a:gd name="connsiteY2-56" fmla="*/ 244403 h 244403"/>
                  <a:gd name="connsiteX3-57" fmla="*/ 0 w 813593"/>
                  <a:gd name="connsiteY3-58" fmla="*/ 244403 h 244403"/>
                  <a:gd name="connsiteX4-59" fmla="*/ 0 w 813593"/>
                  <a:gd name="connsiteY4-60" fmla="*/ 0 h 2444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813593" h="244403">
                    <a:moveTo>
                      <a:pt x="0" y="0"/>
                    </a:moveTo>
                    <a:lnTo>
                      <a:pt x="718716" y="0"/>
                    </a:lnTo>
                    <a:cubicBezTo>
                      <a:pt x="823418" y="4687"/>
                      <a:pt x="865299" y="232737"/>
                      <a:pt x="718716" y="244403"/>
                    </a:cubicBezTo>
                    <a:lnTo>
                      <a:pt x="0" y="2444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4" name="矩形 38"/>
              <p:cNvSpPr/>
              <p:nvPr/>
            </p:nvSpPr>
            <p:spPr>
              <a:xfrm flipH="1">
                <a:off x="6886449" y="3304595"/>
                <a:ext cx="730574" cy="177789"/>
              </a:xfrm>
              <a:custGeom>
                <a:avLst/>
                <a:gdLst>
                  <a:gd name="connsiteX0" fmla="*/ 0 w 718716"/>
                  <a:gd name="connsiteY0" fmla="*/ 0 h 244403"/>
                  <a:gd name="connsiteX1" fmla="*/ 718716 w 718716"/>
                  <a:gd name="connsiteY1" fmla="*/ 0 h 244403"/>
                  <a:gd name="connsiteX2" fmla="*/ 718716 w 718716"/>
                  <a:gd name="connsiteY2" fmla="*/ 244403 h 244403"/>
                  <a:gd name="connsiteX3" fmla="*/ 0 w 718716"/>
                  <a:gd name="connsiteY3" fmla="*/ 244403 h 244403"/>
                  <a:gd name="connsiteX4" fmla="*/ 0 w 718716"/>
                  <a:gd name="connsiteY4" fmla="*/ 0 h 244403"/>
                  <a:gd name="connsiteX0-1" fmla="*/ 0 w 765250"/>
                  <a:gd name="connsiteY0-2" fmla="*/ 0 h 244403"/>
                  <a:gd name="connsiteX1-3" fmla="*/ 718716 w 765250"/>
                  <a:gd name="connsiteY1-4" fmla="*/ 0 h 244403"/>
                  <a:gd name="connsiteX2-5" fmla="*/ 718716 w 765250"/>
                  <a:gd name="connsiteY2-6" fmla="*/ 244403 h 244403"/>
                  <a:gd name="connsiteX3-7" fmla="*/ 0 w 765250"/>
                  <a:gd name="connsiteY3-8" fmla="*/ 244403 h 244403"/>
                  <a:gd name="connsiteX4-9" fmla="*/ 0 w 765250"/>
                  <a:gd name="connsiteY4-10" fmla="*/ 0 h 244403"/>
                  <a:gd name="connsiteX0-11" fmla="*/ 0 w 783864"/>
                  <a:gd name="connsiteY0-12" fmla="*/ 0 h 244403"/>
                  <a:gd name="connsiteX1-13" fmla="*/ 718716 w 783864"/>
                  <a:gd name="connsiteY1-14" fmla="*/ 0 h 244403"/>
                  <a:gd name="connsiteX2-15" fmla="*/ 718716 w 783864"/>
                  <a:gd name="connsiteY2-16" fmla="*/ 244403 h 244403"/>
                  <a:gd name="connsiteX3-17" fmla="*/ 0 w 783864"/>
                  <a:gd name="connsiteY3-18" fmla="*/ 244403 h 244403"/>
                  <a:gd name="connsiteX4-19" fmla="*/ 0 w 783864"/>
                  <a:gd name="connsiteY4-20" fmla="*/ 0 h 244403"/>
                  <a:gd name="connsiteX0-21" fmla="*/ 0 w 798122"/>
                  <a:gd name="connsiteY0-22" fmla="*/ 0 h 244403"/>
                  <a:gd name="connsiteX1-23" fmla="*/ 718716 w 798122"/>
                  <a:gd name="connsiteY1-24" fmla="*/ 0 h 244403"/>
                  <a:gd name="connsiteX2-25" fmla="*/ 718716 w 798122"/>
                  <a:gd name="connsiteY2-26" fmla="*/ 244403 h 244403"/>
                  <a:gd name="connsiteX3-27" fmla="*/ 0 w 798122"/>
                  <a:gd name="connsiteY3-28" fmla="*/ 244403 h 244403"/>
                  <a:gd name="connsiteX4-29" fmla="*/ 0 w 798122"/>
                  <a:gd name="connsiteY4-30" fmla="*/ 0 h 244403"/>
                  <a:gd name="connsiteX0-31" fmla="*/ 0 w 800169"/>
                  <a:gd name="connsiteY0-32" fmla="*/ 0 h 244403"/>
                  <a:gd name="connsiteX1-33" fmla="*/ 718716 w 800169"/>
                  <a:gd name="connsiteY1-34" fmla="*/ 0 h 244403"/>
                  <a:gd name="connsiteX2-35" fmla="*/ 718716 w 800169"/>
                  <a:gd name="connsiteY2-36" fmla="*/ 244403 h 244403"/>
                  <a:gd name="connsiteX3-37" fmla="*/ 0 w 800169"/>
                  <a:gd name="connsiteY3-38" fmla="*/ 244403 h 244403"/>
                  <a:gd name="connsiteX4-39" fmla="*/ 0 w 800169"/>
                  <a:gd name="connsiteY4-40" fmla="*/ 0 h 244403"/>
                  <a:gd name="connsiteX0-41" fmla="*/ 0 w 806646"/>
                  <a:gd name="connsiteY0-42" fmla="*/ 0 h 244403"/>
                  <a:gd name="connsiteX1-43" fmla="*/ 718716 w 806646"/>
                  <a:gd name="connsiteY1-44" fmla="*/ 0 h 244403"/>
                  <a:gd name="connsiteX2-45" fmla="*/ 718716 w 806646"/>
                  <a:gd name="connsiteY2-46" fmla="*/ 244403 h 244403"/>
                  <a:gd name="connsiteX3-47" fmla="*/ 0 w 806646"/>
                  <a:gd name="connsiteY3-48" fmla="*/ 244403 h 244403"/>
                  <a:gd name="connsiteX4-49" fmla="*/ 0 w 806646"/>
                  <a:gd name="connsiteY4-50" fmla="*/ 0 h 244403"/>
                  <a:gd name="connsiteX0-51" fmla="*/ 0 w 813593"/>
                  <a:gd name="connsiteY0-52" fmla="*/ 0 h 244403"/>
                  <a:gd name="connsiteX1-53" fmla="*/ 718716 w 813593"/>
                  <a:gd name="connsiteY1-54" fmla="*/ 0 h 244403"/>
                  <a:gd name="connsiteX2-55" fmla="*/ 718716 w 813593"/>
                  <a:gd name="connsiteY2-56" fmla="*/ 244403 h 244403"/>
                  <a:gd name="connsiteX3-57" fmla="*/ 0 w 813593"/>
                  <a:gd name="connsiteY3-58" fmla="*/ 244403 h 244403"/>
                  <a:gd name="connsiteX4-59" fmla="*/ 0 w 813593"/>
                  <a:gd name="connsiteY4-60" fmla="*/ 0 h 2444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813593" h="244403">
                    <a:moveTo>
                      <a:pt x="0" y="0"/>
                    </a:moveTo>
                    <a:lnTo>
                      <a:pt x="718716" y="0"/>
                    </a:lnTo>
                    <a:cubicBezTo>
                      <a:pt x="823418" y="4687"/>
                      <a:pt x="865299" y="232737"/>
                      <a:pt x="718716" y="244403"/>
                    </a:cubicBezTo>
                    <a:lnTo>
                      <a:pt x="0" y="2444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5" name="直角三角形 34"/>
              <p:cNvSpPr/>
              <p:nvPr/>
            </p:nvSpPr>
            <p:spPr>
              <a:xfrm flipH="1">
                <a:off x="6993772" y="3318882"/>
                <a:ext cx="623251" cy="163503"/>
              </a:xfrm>
              <a:prstGeom prst="rt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9005762" y="2802976"/>
                <a:ext cx="143529" cy="638137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9169980" y="2768053"/>
                <a:ext cx="143528" cy="74290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8999298" y="2729955"/>
                <a:ext cx="149994" cy="5238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9003176" y="3458573"/>
                <a:ext cx="149994" cy="52385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8823442" y="2809325"/>
                <a:ext cx="144822" cy="638137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8818270" y="2736305"/>
                <a:ext cx="149994" cy="5238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8822149" y="3464923"/>
                <a:ext cx="149994" cy="52385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8153641" y="3434763"/>
                <a:ext cx="636182" cy="73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8153641" y="3339518"/>
                <a:ext cx="636182" cy="73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  <p:sp>
            <p:nvSpPr>
              <p:cNvPr id="45" name="矩形 44"/>
              <p:cNvSpPr/>
              <p:nvPr/>
            </p:nvSpPr>
            <p:spPr>
              <a:xfrm rot="10800000" flipH="1">
                <a:off x="9547998" y="2967216"/>
                <a:ext cx="72008" cy="61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cene3d>
                <a:camera prst="orthographicFront">
                  <a:rot lat="0" lon="0" rev="300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grpSp>
          <p:nvGrpSpPr>
            <p:cNvPr id="12" name="组合 46"/>
            <p:cNvGrpSpPr/>
            <p:nvPr/>
          </p:nvGrpSpPr>
          <p:grpSpPr bwMode="auto">
            <a:xfrm>
              <a:off x="10380929" y="4071943"/>
              <a:ext cx="1633094" cy="957609"/>
              <a:chOff x="9925482" y="2571744"/>
              <a:chExt cx="1224980" cy="957609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9925941" y="2779645"/>
                <a:ext cx="143528" cy="74131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0100503" y="2774883"/>
                <a:ext cx="143529" cy="74290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0439283" y="2884413"/>
                <a:ext cx="72411" cy="634962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0528504" y="2884413"/>
                <a:ext cx="72411" cy="634962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0277652" y="2811393"/>
                <a:ext cx="143528" cy="638137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0271186" y="2746310"/>
                <a:ext cx="149994" cy="5238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0276358" y="3466992"/>
                <a:ext cx="148701" cy="5238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0637120" y="2773295"/>
                <a:ext cx="144822" cy="742906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grpSp>
            <p:nvGrpSpPr>
              <p:cNvPr id="24" name="组合 3"/>
              <p:cNvGrpSpPr/>
              <p:nvPr/>
            </p:nvGrpSpPr>
            <p:grpSpPr bwMode="auto">
              <a:xfrm rot="5400000">
                <a:off x="10503611" y="2882502"/>
                <a:ext cx="957609" cy="336093"/>
                <a:chOff x="5533567" y="5687705"/>
                <a:chExt cx="813593" cy="244403"/>
              </a:xfrm>
            </p:grpSpPr>
            <p:sp>
              <p:nvSpPr>
                <p:cNvPr id="25" name="矩形 38"/>
                <p:cNvSpPr/>
                <p:nvPr/>
              </p:nvSpPr>
              <p:spPr>
                <a:xfrm flipH="1">
                  <a:off x="5533525" y="5687705"/>
                  <a:ext cx="813250" cy="244476"/>
                </a:xfrm>
                <a:custGeom>
                  <a:avLst/>
                  <a:gdLst>
                    <a:gd name="connsiteX0" fmla="*/ 0 w 718716"/>
                    <a:gd name="connsiteY0" fmla="*/ 0 h 244403"/>
                    <a:gd name="connsiteX1" fmla="*/ 718716 w 718716"/>
                    <a:gd name="connsiteY1" fmla="*/ 0 h 244403"/>
                    <a:gd name="connsiteX2" fmla="*/ 718716 w 718716"/>
                    <a:gd name="connsiteY2" fmla="*/ 244403 h 244403"/>
                    <a:gd name="connsiteX3" fmla="*/ 0 w 718716"/>
                    <a:gd name="connsiteY3" fmla="*/ 244403 h 244403"/>
                    <a:gd name="connsiteX4" fmla="*/ 0 w 718716"/>
                    <a:gd name="connsiteY4" fmla="*/ 0 h 244403"/>
                    <a:gd name="connsiteX0-1" fmla="*/ 0 w 765250"/>
                    <a:gd name="connsiteY0-2" fmla="*/ 0 h 244403"/>
                    <a:gd name="connsiteX1-3" fmla="*/ 718716 w 765250"/>
                    <a:gd name="connsiteY1-4" fmla="*/ 0 h 244403"/>
                    <a:gd name="connsiteX2-5" fmla="*/ 718716 w 765250"/>
                    <a:gd name="connsiteY2-6" fmla="*/ 244403 h 244403"/>
                    <a:gd name="connsiteX3-7" fmla="*/ 0 w 765250"/>
                    <a:gd name="connsiteY3-8" fmla="*/ 244403 h 244403"/>
                    <a:gd name="connsiteX4-9" fmla="*/ 0 w 765250"/>
                    <a:gd name="connsiteY4-10" fmla="*/ 0 h 244403"/>
                    <a:gd name="connsiteX0-11" fmla="*/ 0 w 783864"/>
                    <a:gd name="connsiteY0-12" fmla="*/ 0 h 244403"/>
                    <a:gd name="connsiteX1-13" fmla="*/ 718716 w 783864"/>
                    <a:gd name="connsiteY1-14" fmla="*/ 0 h 244403"/>
                    <a:gd name="connsiteX2-15" fmla="*/ 718716 w 783864"/>
                    <a:gd name="connsiteY2-16" fmla="*/ 244403 h 244403"/>
                    <a:gd name="connsiteX3-17" fmla="*/ 0 w 783864"/>
                    <a:gd name="connsiteY3-18" fmla="*/ 244403 h 244403"/>
                    <a:gd name="connsiteX4-19" fmla="*/ 0 w 783864"/>
                    <a:gd name="connsiteY4-20" fmla="*/ 0 h 244403"/>
                    <a:gd name="connsiteX0-21" fmla="*/ 0 w 798122"/>
                    <a:gd name="connsiteY0-22" fmla="*/ 0 h 244403"/>
                    <a:gd name="connsiteX1-23" fmla="*/ 718716 w 798122"/>
                    <a:gd name="connsiteY1-24" fmla="*/ 0 h 244403"/>
                    <a:gd name="connsiteX2-25" fmla="*/ 718716 w 798122"/>
                    <a:gd name="connsiteY2-26" fmla="*/ 244403 h 244403"/>
                    <a:gd name="connsiteX3-27" fmla="*/ 0 w 798122"/>
                    <a:gd name="connsiteY3-28" fmla="*/ 244403 h 244403"/>
                    <a:gd name="connsiteX4-29" fmla="*/ 0 w 798122"/>
                    <a:gd name="connsiteY4-30" fmla="*/ 0 h 244403"/>
                    <a:gd name="connsiteX0-31" fmla="*/ 0 w 800169"/>
                    <a:gd name="connsiteY0-32" fmla="*/ 0 h 244403"/>
                    <a:gd name="connsiteX1-33" fmla="*/ 718716 w 800169"/>
                    <a:gd name="connsiteY1-34" fmla="*/ 0 h 244403"/>
                    <a:gd name="connsiteX2-35" fmla="*/ 718716 w 800169"/>
                    <a:gd name="connsiteY2-36" fmla="*/ 244403 h 244403"/>
                    <a:gd name="connsiteX3-37" fmla="*/ 0 w 800169"/>
                    <a:gd name="connsiteY3-38" fmla="*/ 244403 h 244403"/>
                    <a:gd name="connsiteX4-39" fmla="*/ 0 w 800169"/>
                    <a:gd name="connsiteY4-40" fmla="*/ 0 h 244403"/>
                    <a:gd name="connsiteX0-41" fmla="*/ 0 w 806646"/>
                    <a:gd name="connsiteY0-42" fmla="*/ 0 h 244403"/>
                    <a:gd name="connsiteX1-43" fmla="*/ 718716 w 806646"/>
                    <a:gd name="connsiteY1-44" fmla="*/ 0 h 244403"/>
                    <a:gd name="connsiteX2-45" fmla="*/ 718716 w 806646"/>
                    <a:gd name="connsiteY2-46" fmla="*/ 244403 h 244403"/>
                    <a:gd name="connsiteX3-47" fmla="*/ 0 w 806646"/>
                    <a:gd name="connsiteY3-48" fmla="*/ 244403 h 244403"/>
                    <a:gd name="connsiteX4-49" fmla="*/ 0 w 806646"/>
                    <a:gd name="connsiteY4-50" fmla="*/ 0 h 244403"/>
                    <a:gd name="connsiteX0-51" fmla="*/ 0 w 813593"/>
                    <a:gd name="connsiteY0-52" fmla="*/ 0 h 244403"/>
                    <a:gd name="connsiteX1-53" fmla="*/ 718716 w 813593"/>
                    <a:gd name="connsiteY1-54" fmla="*/ 0 h 244403"/>
                    <a:gd name="connsiteX2-55" fmla="*/ 718716 w 813593"/>
                    <a:gd name="connsiteY2-56" fmla="*/ 244403 h 244403"/>
                    <a:gd name="connsiteX3-57" fmla="*/ 0 w 813593"/>
                    <a:gd name="connsiteY3-58" fmla="*/ 244403 h 244403"/>
                    <a:gd name="connsiteX4-59" fmla="*/ 0 w 813593"/>
                    <a:gd name="connsiteY4-60" fmla="*/ 0 h 24440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813593" h="244403">
                      <a:moveTo>
                        <a:pt x="0" y="0"/>
                      </a:moveTo>
                      <a:lnTo>
                        <a:pt x="718716" y="0"/>
                      </a:lnTo>
                      <a:cubicBezTo>
                        <a:pt x="823418" y="4687"/>
                        <a:pt x="865299" y="232737"/>
                        <a:pt x="718716" y="244403"/>
                      </a:cubicBezTo>
                      <a:lnTo>
                        <a:pt x="0" y="24440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26" name="矩形 38"/>
                <p:cNvSpPr/>
                <p:nvPr/>
              </p:nvSpPr>
              <p:spPr>
                <a:xfrm flipH="1">
                  <a:off x="5615794" y="5725317"/>
                  <a:ext cx="730981" cy="177715"/>
                </a:xfrm>
                <a:custGeom>
                  <a:avLst/>
                  <a:gdLst>
                    <a:gd name="connsiteX0" fmla="*/ 0 w 718716"/>
                    <a:gd name="connsiteY0" fmla="*/ 0 h 244403"/>
                    <a:gd name="connsiteX1" fmla="*/ 718716 w 718716"/>
                    <a:gd name="connsiteY1" fmla="*/ 0 h 244403"/>
                    <a:gd name="connsiteX2" fmla="*/ 718716 w 718716"/>
                    <a:gd name="connsiteY2" fmla="*/ 244403 h 244403"/>
                    <a:gd name="connsiteX3" fmla="*/ 0 w 718716"/>
                    <a:gd name="connsiteY3" fmla="*/ 244403 h 244403"/>
                    <a:gd name="connsiteX4" fmla="*/ 0 w 718716"/>
                    <a:gd name="connsiteY4" fmla="*/ 0 h 244403"/>
                    <a:gd name="connsiteX0-1" fmla="*/ 0 w 765250"/>
                    <a:gd name="connsiteY0-2" fmla="*/ 0 h 244403"/>
                    <a:gd name="connsiteX1-3" fmla="*/ 718716 w 765250"/>
                    <a:gd name="connsiteY1-4" fmla="*/ 0 h 244403"/>
                    <a:gd name="connsiteX2-5" fmla="*/ 718716 w 765250"/>
                    <a:gd name="connsiteY2-6" fmla="*/ 244403 h 244403"/>
                    <a:gd name="connsiteX3-7" fmla="*/ 0 w 765250"/>
                    <a:gd name="connsiteY3-8" fmla="*/ 244403 h 244403"/>
                    <a:gd name="connsiteX4-9" fmla="*/ 0 w 765250"/>
                    <a:gd name="connsiteY4-10" fmla="*/ 0 h 244403"/>
                    <a:gd name="connsiteX0-11" fmla="*/ 0 w 783864"/>
                    <a:gd name="connsiteY0-12" fmla="*/ 0 h 244403"/>
                    <a:gd name="connsiteX1-13" fmla="*/ 718716 w 783864"/>
                    <a:gd name="connsiteY1-14" fmla="*/ 0 h 244403"/>
                    <a:gd name="connsiteX2-15" fmla="*/ 718716 w 783864"/>
                    <a:gd name="connsiteY2-16" fmla="*/ 244403 h 244403"/>
                    <a:gd name="connsiteX3-17" fmla="*/ 0 w 783864"/>
                    <a:gd name="connsiteY3-18" fmla="*/ 244403 h 244403"/>
                    <a:gd name="connsiteX4-19" fmla="*/ 0 w 783864"/>
                    <a:gd name="connsiteY4-20" fmla="*/ 0 h 244403"/>
                    <a:gd name="connsiteX0-21" fmla="*/ 0 w 798122"/>
                    <a:gd name="connsiteY0-22" fmla="*/ 0 h 244403"/>
                    <a:gd name="connsiteX1-23" fmla="*/ 718716 w 798122"/>
                    <a:gd name="connsiteY1-24" fmla="*/ 0 h 244403"/>
                    <a:gd name="connsiteX2-25" fmla="*/ 718716 w 798122"/>
                    <a:gd name="connsiteY2-26" fmla="*/ 244403 h 244403"/>
                    <a:gd name="connsiteX3-27" fmla="*/ 0 w 798122"/>
                    <a:gd name="connsiteY3-28" fmla="*/ 244403 h 244403"/>
                    <a:gd name="connsiteX4-29" fmla="*/ 0 w 798122"/>
                    <a:gd name="connsiteY4-30" fmla="*/ 0 h 244403"/>
                    <a:gd name="connsiteX0-31" fmla="*/ 0 w 800169"/>
                    <a:gd name="connsiteY0-32" fmla="*/ 0 h 244403"/>
                    <a:gd name="connsiteX1-33" fmla="*/ 718716 w 800169"/>
                    <a:gd name="connsiteY1-34" fmla="*/ 0 h 244403"/>
                    <a:gd name="connsiteX2-35" fmla="*/ 718716 w 800169"/>
                    <a:gd name="connsiteY2-36" fmla="*/ 244403 h 244403"/>
                    <a:gd name="connsiteX3-37" fmla="*/ 0 w 800169"/>
                    <a:gd name="connsiteY3-38" fmla="*/ 244403 h 244403"/>
                    <a:gd name="connsiteX4-39" fmla="*/ 0 w 800169"/>
                    <a:gd name="connsiteY4-40" fmla="*/ 0 h 244403"/>
                    <a:gd name="connsiteX0-41" fmla="*/ 0 w 806646"/>
                    <a:gd name="connsiteY0-42" fmla="*/ 0 h 244403"/>
                    <a:gd name="connsiteX1-43" fmla="*/ 718716 w 806646"/>
                    <a:gd name="connsiteY1-44" fmla="*/ 0 h 244403"/>
                    <a:gd name="connsiteX2-45" fmla="*/ 718716 w 806646"/>
                    <a:gd name="connsiteY2-46" fmla="*/ 244403 h 244403"/>
                    <a:gd name="connsiteX3-47" fmla="*/ 0 w 806646"/>
                    <a:gd name="connsiteY3-48" fmla="*/ 244403 h 244403"/>
                    <a:gd name="connsiteX4-49" fmla="*/ 0 w 806646"/>
                    <a:gd name="connsiteY4-50" fmla="*/ 0 h 244403"/>
                    <a:gd name="connsiteX0-51" fmla="*/ 0 w 813593"/>
                    <a:gd name="connsiteY0-52" fmla="*/ 0 h 244403"/>
                    <a:gd name="connsiteX1-53" fmla="*/ 718716 w 813593"/>
                    <a:gd name="connsiteY1-54" fmla="*/ 0 h 244403"/>
                    <a:gd name="connsiteX2-55" fmla="*/ 718716 w 813593"/>
                    <a:gd name="connsiteY2-56" fmla="*/ 244403 h 244403"/>
                    <a:gd name="connsiteX3-57" fmla="*/ 0 w 813593"/>
                    <a:gd name="connsiteY3-58" fmla="*/ 244403 h 244403"/>
                    <a:gd name="connsiteX4-59" fmla="*/ 0 w 813593"/>
                    <a:gd name="connsiteY4-60" fmla="*/ 0 h 24440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813593" h="244403">
                      <a:moveTo>
                        <a:pt x="0" y="0"/>
                      </a:moveTo>
                      <a:lnTo>
                        <a:pt x="718716" y="0"/>
                      </a:lnTo>
                      <a:cubicBezTo>
                        <a:pt x="823418" y="4687"/>
                        <a:pt x="865299" y="232737"/>
                        <a:pt x="718716" y="244403"/>
                      </a:cubicBezTo>
                      <a:lnTo>
                        <a:pt x="0" y="24440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27" name="直角三角形 26"/>
                <p:cNvSpPr/>
                <p:nvPr/>
              </p:nvSpPr>
              <p:spPr>
                <a:xfrm flipH="1">
                  <a:off x="5723688" y="5738481"/>
                  <a:ext cx="623087" cy="164551"/>
                </a:xfrm>
                <a:prstGeom prst="rtTriangl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</p:grpSp>
        <p:pic>
          <p:nvPicPr>
            <p:cNvPr id="13" name="图片 62" descr="机器人1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6160" y="3786190"/>
              <a:ext cx="801973" cy="730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图片 63" descr="机器人2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9973" y="4071942"/>
              <a:ext cx="880308" cy="761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图片 64" descr="机器人3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3304" y="3357562"/>
              <a:ext cx="852686" cy="994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6" name="直接连接符 45"/>
          <p:cNvCxnSpPr/>
          <p:nvPr userDrawn="1"/>
        </p:nvCxnSpPr>
        <p:spPr>
          <a:xfrm rot="16200000" flipH="1">
            <a:off x="488156" y="2631282"/>
            <a:ext cx="357187" cy="38100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 userDrawn="1"/>
        </p:nvCxnSpPr>
        <p:spPr>
          <a:xfrm rot="16200000" flipH="1">
            <a:off x="1238250" y="2667000"/>
            <a:ext cx="285750" cy="9525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 userDrawn="1"/>
        </p:nvCxnSpPr>
        <p:spPr>
          <a:xfrm rot="5400000">
            <a:off x="1893093" y="2631282"/>
            <a:ext cx="500063" cy="9525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 userDrawn="1"/>
        </p:nvCxnSpPr>
        <p:spPr>
          <a:xfrm rot="5400000">
            <a:off x="2702718" y="2821782"/>
            <a:ext cx="214313" cy="28575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 userDrawn="1"/>
        </p:nvCxnSpPr>
        <p:spPr>
          <a:xfrm rot="10800000" flipV="1">
            <a:off x="2952750" y="3214688"/>
            <a:ext cx="571500" cy="21431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4"/>
          <p:cNvGrpSpPr/>
          <p:nvPr userDrawn="1"/>
        </p:nvGrpSpPr>
        <p:grpSpPr bwMode="auto">
          <a:xfrm>
            <a:off x="0" y="3000375"/>
            <a:ext cx="12190413" cy="2790825"/>
            <a:chOff x="0" y="3000375"/>
            <a:chExt cx="12190413" cy="2790825"/>
          </a:xfrm>
        </p:grpSpPr>
        <p:pic>
          <p:nvPicPr>
            <p:cNvPr id="53" name="图片 50" descr="人工智能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64" y="3000375"/>
              <a:ext cx="10717211" cy="279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4" name="组合 53"/>
            <p:cNvGrpSpPr/>
            <p:nvPr userDrawn="1"/>
          </p:nvGrpSpPr>
          <p:grpSpPr>
            <a:xfrm>
              <a:off x="0" y="4929198"/>
              <a:ext cx="12190413" cy="142876"/>
              <a:chOff x="1" y="5360074"/>
              <a:chExt cx="9374634" cy="157158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55" name="矩形 54"/>
              <p:cNvSpPr/>
              <p:nvPr/>
            </p:nvSpPr>
            <p:spPr>
              <a:xfrm>
                <a:off x="1" y="5360074"/>
                <a:ext cx="4355976" cy="1571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4355976" y="5360074"/>
                <a:ext cx="5018659" cy="1571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522912" y="1684366"/>
            <a:ext cx="6038849" cy="63976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522912" y="1138107"/>
            <a:ext cx="5411788" cy="40918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3" b="11111"/>
          <a:stretch>
            <a:fillRect/>
          </a:stretch>
        </p:blipFill>
        <p:spPr>
          <a:xfrm>
            <a:off x="262558" y="212378"/>
            <a:ext cx="936104" cy="576064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 rot="16200000" flipV="1">
            <a:off x="-495300" y="4156075"/>
            <a:ext cx="3521075" cy="95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 userDrawn="1"/>
        </p:nvCxnSpPr>
        <p:spPr>
          <a:xfrm>
            <a:off x="6772275" y="1857375"/>
            <a:ext cx="456088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7912100" y="1262063"/>
            <a:ext cx="154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11333163" y="1857375"/>
            <a:ext cx="0" cy="40655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 rot="10800000" flipV="1">
            <a:off x="900113" y="5929313"/>
            <a:ext cx="10433050" cy="31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 userDrawn="1"/>
        </p:nvGrpSpPr>
        <p:grpSpPr>
          <a:xfrm>
            <a:off x="6786023" y="5806404"/>
            <a:ext cx="4095203" cy="142876"/>
            <a:chOff x="1" y="5360074"/>
            <a:chExt cx="9374634" cy="157158"/>
          </a:xfrm>
          <a:solidFill>
            <a:schemeClr val="accent1">
              <a:lumMod val="50000"/>
            </a:schemeClr>
          </a:solidFill>
        </p:grpSpPr>
        <p:sp>
          <p:nvSpPr>
            <p:cNvPr id="8" name="矩形 7"/>
            <p:cNvSpPr/>
            <p:nvPr/>
          </p:nvSpPr>
          <p:spPr>
            <a:xfrm>
              <a:off x="1" y="5360074"/>
              <a:ext cx="4355976" cy="1571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355976" y="5360074"/>
              <a:ext cx="5018659" cy="1571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56" descr="机器人4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7813" y="1143000"/>
            <a:ext cx="909637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52" descr="1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13" y="2357438"/>
            <a:ext cx="3736975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肘形连接符 13"/>
          <p:cNvCxnSpPr/>
          <p:nvPr userDrawn="1"/>
        </p:nvCxnSpPr>
        <p:spPr>
          <a:xfrm flipV="1">
            <a:off x="0" y="477343"/>
            <a:ext cx="12190413" cy="352549"/>
          </a:xfrm>
          <a:prstGeom prst="bentConnector3">
            <a:avLst>
              <a:gd name="adj1" fmla="val 61540"/>
            </a:avLst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 userDrawn="1"/>
        </p:nvSpPr>
        <p:spPr>
          <a:xfrm>
            <a:off x="1270000" y="260648"/>
            <a:ext cx="5977334" cy="479524"/>
          </a:xfrm>
          <a:prstGeom prst="roundRect">
            <a:avLst>
              <a:gd name="adj" fmla="val 4690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kern="12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lang="zh-CN" altLang="en-US" sz="2600" kern="12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3" b="11111"/>
          <a:stretch>
            <a:fillRect/>
          </a:stretch>
        </p:blipFill>
        <p:spPr>
          <a:xfrm>
            <a:off x="262558" y="212378"/>
            <a:ext cx="936104" cy="576064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 flipV="1">
            <a:off x="0" y="6429375"/>
            <a:ext cx="12190413" cy="714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8" name="图片 25" descr="机器人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75" y="5845175"/>
            <a:ext cx="6365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日期占位符 17"/>
          <p:cNvSpPr>
            <a:spLocks noGrp="1"/>
          </p:cNvSpPr>
          <p:nvPr>
            <p:ph type="dt" sz="half" idx="14"/>
          </p:nvPr>
        </p:nvSpPr>
        <p:spPr>
          <a:xfrm>
            <a:off x="638175" y="6480175"/>
            <a:ext cx="2844800" cy="36353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50C1107-F804-4051-8475-6431D7F2CAB6}" type="datetimeFigureOut">
              <a:rPr lang="zh-CN" altLang="en-US"/>
            </a:fld>
            <a:endParaRPr lang="zh-CN" altLang="en-US"/>
          </a:p>
        </p:txBody>
      </p:sp>
      <p:sp>
        <p:nvSpPr>
          <p:cNvPr id="11" name="灯片编号占位符 19"/>
          <p:cNvSpPr>
            <a:spLocks noGrp="1"/>
          </p:cNvSpPr>
          <p:nvPr>
            <p:ph type="sldNum" sz="quarter" idx="15"/>
          </p:nvPr>
        </p:nvSpPr>
        <p:spPr>
          <a:xfrm>
            <a:off x="8797925" y="6478588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123AFA4C-E1ED-416F-B485-7DD44BB7A704}" type="slidenum">
              <a:rPr lang="zh-CN" altLang="en-US"/>
            </a:fld>
            <a:endParaRPr lang="zh-CN" altLang="en-US" dirty="0"/>
          </a:p>
        </p:txBody>
      </p:sp>
      <p:cxnSp>
        <p:nvCxnSpPr>
          <p:cNvPr id="12" name="肘形连接符 13"/>
          <p:cNvCxnSpPr/>
          <p:nvPr userDrawn="1"/>
        </p:nvCxnSpPr>
        <p:spPr>
          <a:xfrm flipV="1">
            <a:off x="0" y="477343"/>
            <a:ext cx="12190413" cy="352549"/>
          </a:xfrm>
          <a:prstGeom prst="bentConnector3">
            <a:avLst>
              <a:gd name="adj1" fmla="val 61540"/>
            </a:avLst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7"/>
          <p:cNvSpPr/>
          <p:nvPr userDrawn="1"/>
        </p:nvSpPr>
        <p:spPr>
          <a:xfrm>
            <a:off x="1270000" y="260648"/>
            <a:ext cx="5977334" cy="479524"/>
          </a:xfrm>
          <a:prstGeom prst="roundRect">
            <a:avLst>
              <a:gd name="adj" fmla="val 4690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过渡页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775338" y="1901852"/>
            <a:ext cx="8108332" cy="577395"/>
          </a:xfrm>
          <a:prstGeom prst="rect">
            <a:avLst/>
          </a:prstGeom>
        </p:spPr>
        <p:txBody>
          <a:bodyPr/>
          <a:lstStyle>
            <a:lvl1pPr marL="179705" algn="l"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635566" y="2538810"/>
            <a:ext cx="107757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635566" y="2598369"/>
            <a:ext cx="10775727" cy="527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19"/>
          <p:cNvSpPr>
            <a:spLocks noGrp="1"/>
          </p:cNvSpPr>
          <p:nvPr>
            <p:ph sz="quarter" idx="16"/>
          </p:nvPr>
        </p:nvSpPr>
        <p:spPr>
          <a:xfrm>
            <a:off x="1067614" y="2778161"/>
            <a:ext cx="7820298" cy="91440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3" b="11111"/>
          <a:stretch>
            <a:fillRect/>
          </a:stretch>
        </p:blipFill>
        <p:spPr>
          <a:xfrm>
            <a:off x="262558" y="212378"/>
            <a:ext cx="936104" cy="576064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 flipV="1">
            <a:off x="0" y="6429375"/>
            <a:ext cx="12190413" cy="714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8" name="图片 25" descr="机器人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75" y="5845175"/>
            <a:ext cx="6365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日期占位符 17"/>
          <p:cNvSpPr>
            <a:spLocks noGrp="1"/>
          </p:cNvSpPr>
          <p:nvPr>
            <p:ph type="dt" sz="half" idx="14"/>
          </p:nvPr>
        </p:nvSpPr>
        <p:spPr>
          <a:xfrm>
            <a:off x="638175" y="6480175"/>
            <a:ext cx="2844800" cy="36353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50C1107-F804-4051-8475-6431D7F2CAB6}" type="datetimeFigureOut">
              <a:rPr lang="zh-CN" altLang="en-US"/>
            </a:fld>
            <a:endParaRPr lang="zh-CN" altLang="en-US"/>
          </a:p>
        </p:txBody>
      </p:sp>
      <p:sp>
        <p:nvSpPr>
          <p:cNvPr id="11" name="灯片编号占位符 19"/>
          <p:cNvSpPr>
            <a:spLocks noGrp="1"/>
          </p:cNvSpPr>
          <p:nvPr>
            <p:ph type="sldNum" sz="quarter" idx="15"/>
          </p:nvPr>
        </p:nvSpPr>
        <p:spPr>
          <a:xfrm>
            <a:off x="8797925" y="6478588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123AFA4C-E1ED-416F-B485-7DD44BB7A704}" type="slidenum">
              <a:rPr lang="zh-CN" altLang="en-US"/>
            </a:fld>
            <a:endParaRPr lang="zh-CN" altLang="en-US" dirty="0"/>
          </a:p>
        </p:txBody>
      </p:sp>
      <p:cxnSp>
        <p:nvCxnSpPr>
          <p:cNvPr id="12" name="肘形连接符 13"/>
          <p:cNvCxnSpPr/>
          <p:nvPr userDrawn="1"/>
        </p:nvCxnSpPr>
        <p:spPr>
          <a:xfrm flipV="1">
            <a:off x="0" y="477343"/>
            <a:ext cx="12190413" cy="352549"/>
          </a:xfrm>
          <a:prstGeom prst="bentConnector3">
            <a:avLst>
              <a:gd name="adj1" fmla="val 61540"/>
            </a:avLst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7"/>
          <p:cNvSpPr/>
          <p:nvPr userDrawn="1"/>
        </p:nvSpPr>
        <p:spPr>
          <a:xfrm>
            <a:off x="1270000" y="260648"/>
            <a:ext cx="5977334" cy="479524"/>
          </a:xfrm>
          <a:prstGeom prst="roundRect">
            <a:avLst>
              <a:gd name="adj" fmla="val 4690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视频页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1" y="2818012"/>
            <a:ext cx="12190412" cy="466972"/>
          </a:xfrm>
          <a:prstGeom prst="rect">
            <a:avLst/>
          </a:prstGeom>
        </p:spPr>
        <p:txBody>
          <a:bodyPr/>
          <a:lstStyle>
            <a:lvl1pPr marL="179705" algn="ctr"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内容占位符 2"/>
          <p:cNvSpPr>
            <a:spLocks noGrp="1"/>
          </p:cNvSpPr>
          <p:nvPr>
            <p:ph idx="1" hasCustomPrompt="1"/>
          </p:nvPr>
        </p:nvSpPr>
        <p:spPr>
          <a:xfrm>
            <a:off x="1720720" y="3541383"/>
            <a:ext cx="8748972" cy="1903841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20000"/>
              </a:lnSpc>
              <a:buFont typeface="Wingdings" panose="05000000000000000000" pitchFamily="2" charset="2"/>
              <a:buChar char="Ø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buFont typeface="Wingdings" panose="05000000000000000000" pitchFamily="2" charset="2"/>
              <a:buChar char="ü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130" y="1324372"/>
            <a:ext cx="1368152" cy="136815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3" b="11111"/>
          <a:stretch>
            <a:fillRect/>
          </a:stretch>
        </p:blipFill>
        <p:spPr>
          <a:xfrm>
            <a:off x="262558" y="212378"/>
            <a:ext cx="936104" cy="576064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7"/>
          <p:cNvSpPr/>
          <p:nvPr userDrawn="1"/>
        </p:nvSpPr>
        <p:spPr>
          <a:xfrm>
            <a:off x="1270000" y="260648"/>
            <a:ext cx="5977334" cy="479524"/>
          </a:xfrm>
          <a:prstGeom prst="roundRect">
            <a:avLst>
              <a:gd name="adj" fmla="val 4690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 rot="10800000" flipV="1">
            <a:off x="0" y="6429375"/>
            <a:ext cx="12190413" cy="714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8" name="图片 25" descr="机器人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75" y="5845175"/>
            <a:ext cx="6365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37991" y="1013994"/>
            <a:ext cx="10971213" cy="4749716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 sz="28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24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ü"/>
              <a:defRPr sz="20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" name="日期占位符 17"/>
          <p:cNvSpPr>
            <a:spLocks noGrp="1"/>
          </p:cNvSpPr>
          <p:nvPr>
            <p:ph type="dt" sz="half" idx="14"/>
          </p:nvPr>
        </p:nvSpPr>
        <p:spPr>
          <a:xfrm>
            <a:off x="638175" y="6480175"/>
            <a:ext cx="2844800" cy="36353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50C1107-F804-4051-8475-6431D7F2CAB6}" type="datetimeFigureOut">
              <a:rPr lang="zh-CN" altLang="en-US"/>
            </a:fld>
            <a:endParaRPr lang="zh-CN" altLang="en-US"/>
          </a:p>
        </p:txBody>
      </p:sp>
      <p:sp>
        <p:nvSpPr>
          <p:cNvPr id="11" name="灯片编号占位符 19"/>
          <p:cNvSpPr>
            <a:spLocks noGrp="1"/>
          </p:cNvSpPr>
          <p:nvPr>
            <p:ph type="sldNum" sz="quarter" idx="15"/>
          </p:nvPr>
        </p:nvSpPr>
        <p:spPr>
          <a:xfrm>
            <a:off x="8797925" y="6478588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123AFA4C-E1ED-416F-B485-7DD44BB7A704}" type="slidenum">
              <a:rPr lang="zh-CN" altLang="en-US"/>
            </a:fld>
            <a:endParaRPr lang="zh-CN" altLang="en-US" dirty="0"/>
          </a:p>
        </p:txBody>
      </p:sp>
      <p:cxnSp>
        <p:nvCxnSpPr>
          <p:cNvPr id="12" name="肘形连接符 13"/>
          <p:cNvCxnSpPr/>
          <p:nvPr userDrawn="1"/>
        </p:nvCxnSpPr>
        <p:spPr>
          <a:xfrm flipV="1">
            <a:off x="0" y="477343"/>
            <a:ext cx="12190413" cy="352549"/>
          </a:xfrm>
          <a:prstGeom prst="bentConnector3">
            <a:avLst>
              <a:gd name="adj1" fmla="val 61540"/>
            </a:avLst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240884" y="260648"/>
            <a:ext cx="5906913" cy="652463"/>
          </a:xfrm>
          <a:prstGeom prst="rect">
            <a:avLst/>
          </a:prstGeom>
        </p:spPr>
        <p:txBody>
          <a:bodyPr/>
          <a:lstStyle>
            <a:lvl1pPr marL="179705" algn="l">
              <a:defRPr sz="2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3" b="11111"/>
          <a:stretch>
            <a:fillRect/>
          </a:stretch>
        </p:blipFill>
        <p:spPr>
          <a:xfrm>
            <a:off x="262558" y="212378"/>
            <a:ext cx="936104" cy="576064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4150990" y="2401888"/>
            <a:ext cx="6086475" cy="0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0" y="2500313"/>
            <a:ext cx="12190413" cy="162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11453813" y="3260725"/>
            <a:ext cx="192087" cy="638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674475" y="3224213"/>
            <a:ext cx="192088" cy="7429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463338" y="3186113"/>
            <a:ext cx="200025" cy="523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1452225" y="3914775"/>
            <a:ext cx="200025" cy="523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212513" y="3265488"/>
            <a:ext cx="192087" cy="638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11222038" y="3192463"/>
            <a:ext cx="200025" cy="523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11210925" y="3921125"/>
            <a:ext cx="200025" cy="523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0318750" y="3890963"/>
            <a:ext cx="847725" cy="730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10318750" y="3797300"/>
            <a:ext cx="847725" cy="714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5" name="矩形 14"/>
          <p:cNvSpPr/>
          <p:nvPr userDrawn="1"/>
        </p:nvSpPr>
        <p:spPr>
          <a:xfrm rot="16200000" flipH="1">
            <a:off x="10845843" y="3115890"/>
            <a:ext cx="72008" cy="815894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16" name="图片 18" descr="机器人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662" y="1779588"/>
            <a:ext cx="635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74245" y="1857375"/>
            <a:ext cx="5270076" cy="471988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1990750" y="3232951"/>
            <a:ext cx="8230738" cy="30956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3" b="11111"/>
          <a:stretch>
            <a:fillRect/>
          </a:stretch>
        </p:blipFill>
        <p:spPr>
          <a:xfrm>
            <a:off x="262558" y="212378"/>
            <a:ext cx="936104" cy="576064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5BE-ACD3-46D3-8C8B-8C37047E9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3C29B-E0D1-477F-8A79-069CCFE06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1" Type="http://schemas.openxmlformats.org/officeDocument/2006/relationships/hyperlink" Target="https://www.xfyun.cn/services/online_tt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://www.baidu.com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hyperlink" Target="http://127.0.0.1:5000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1" Type="http://schemas.openxmlformats.org/officeDocument/2006/relationships/hyperlink" Target="http://127.0.0.1:5000/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150990" y="1844824"/>
            <a:ext cx="7963451" cy="1152128"/>
          </a:xfrm>
        </p:spPr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基于讯飞开放平台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b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智能语音聊天系统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程序设计项目实践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5151310"/>
          </a:xfrm>
        </p:spPr>
        <p:txBody>
          <a:bodyPr/>
          <a:lstStyle/>
          <a:p>
            <a:r>
              <a:rPr lang="zh-CN" altLang="en-US" dirty="0"/>
              <a:t>实验内容：</a:t>
            </a:r>
            <a:endParaRPr lang="en-US" altLang="zh-CN" dirty="0"/>
          </a:p>
          <a:p>
            <a:pPr lvl="1"/>
            <a:r>
              <a:rPr lang="zh-CN" altLang="en-US" dirty="0"/>
              <a:t>讯飞开放平台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使用方法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</a:t>
            </a:r>
            <a:r>
              <a:rPr lang="zh-CN" altLang="en-US" dirty="0">
                <a:cs typeface="Times New Roman" panose="02020603050405020304" pitchFamily="18" charset="0"/>
              </a:rPr>
              <a:t>系统流程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</a:t>
            </a:r>
            <a:r>
              <a:rPr lang="zh-CN" altLang="en-US" dirty="0">
                <a:cs typeface="Times New Roman" panose="02020603050405020304" pitchFamily="18" charset="0"/>
              </a:rPr>
              <a:t>系统实战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cs typeface="Times New Roman" panose="02020603050405020304" pitchFamily="18" charset="0"/>
              </a:rPr>
              <a:t>延伸阅读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dirty="0"/>
              <a:t>实验目标：</a:t>
            </a:r>
            <a:endParaRPr lang="en-US" altLang="zh-CN" dirty="0"/>
          </a:p>
          <a:p>
            <a:pPr lvl="1"/>
            <a:r>
              <a:rPr lang="zh-CN" altLang="en-US" dirty="0"/>
              <a:t>了解讯飞开放平台的使用流程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zh-CN" altLang="en-US" dirty="0"/>
              <a:t>了解语音转写、语音合成、</a:t>
            </a:r>
            <a:r>
              <a:rPr lang="zh-CN" altLang="en-US" dirty="0"/>
              <a:t>大模型能力接口调用的处理流程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838622" y="3974395"/>
            <a:ext cx="4709428" cy="631825"/>
            <a:chOff x="838622" y="3429000"/>
            <a:chExt cx="4709428" cy="631825"/>
          </a:xfrm>
        </p:grpSpPr>
        <p:sp>
          <p:nvSpPr>
            <p:cNvPr id="4" name="菱形 3"/>
            <p:cNvSpPr/>
            <p:nvPr>
              <p:custDataLst>
                <p:tags r:id="rId2"/>
              </p:custDataLst>
            </p:nvPr>
          </p:nvSpPr>
          <p:spPr>
            <a:xfrm>
              <a:off x="838622" y="3429000"/>
              <a:ext cx="842963" cy="631825"/>
            </a:xfrm>
            <a:prstGeom prst="diamon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latin typeface="Consolas" panose="020B0609020204030204" pitchFamily="49" charset="0"/>
                </a:rPr>
                <a:t>3</a:t>
              </a:r>
              <a:endParaRPr lang="zh-CN" altLang="en-US" sz="2400" dirty="0">
                <a:latin typeface="Consolas" panose="020B0609020204030204" pitchFamily="49" charset="0"/>
              </a:endParaRPr>
            </a:p>
          </p:txBody>
        </p:sp>
        <p:grpSp>
          <p:nvGrpSpPr>
            <p:cNvPr id="5" name="组合 70"/>
            <p:cNvGrpSpPr/>
            <p:nvPr/>
          </p:nvGrpSpPr>
          <p:grpSpPr bwMode="auto">
            <a:xfrm>
              <a:off x="1682487" y="3559174"/>
              <a:ext cx="3865563" cy="371475"/>
              <a:chOff x="1074057" y="1947720"/>
              <a:chExt cx="2899639" cy="371687"/>
            </a:xfrm>
          </p:grpSpPr>
          <p:sp>
            <p:nvSpPr>
              <p:cNvPr id="6" name="圆角矩形 24"/>
              <p:cNvSpPr/>
              <p:nvPr>
                <p:custDataLst>
                  <p:tags r:id="rId3"/>
                </p:custDataLst>
              </p:nvPr>
            </p:nvSpPr>
            <p:spPr>
              <a:xfrm>
                <a:off x="1074057" y="1949309"/>
                <a:ext cx="2899639" cy="370098"/>
              </a:xfrm>
              <a:prstGeom prst="roundRect">
                <a:avLst>
                  <a:gd name="adj" fmla="val 50000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7" name="TextBox 7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76299" y="1947720"/>
                <a:ext cx="2700735" cy="368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智能语音聊天系统</a:t>
                </a: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实战</a:t>
                </a:r>
                <a:endPara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838622" y="2593405"/>
            <a:ext cx="4709428" cy="631825"/>
            <a:chOff x="838622" y="3429000"/>
            <a:chExt cx="4709428" cy="631825"/>
          </a:xfrm>
        </p:grpSpPr>
        <p:sp>
          <p:nvSpPr>
            <p:cNvPr id="9" name="菱形 8"/>
            <p:cNvSpPr/>
            <p:nvPr>
              <p:custDataLst>
                <p:tags r:id="rId6"/>
              </p:custDataLst>
            </p:nvPr>
          </p:nvSpPr>
          <p:spPr>
            <a:xfrm>
              <a:off x="838622" y="3429000"/>
              <a:ext cx="842963" cy="631825"/>
            </a:xfrm>
            <a:prstGeom prst="diamon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latin typeface="Consolas" panose="020B0609020204030204" pitchFamily="49" charset="0"/>
                </a:rPr>
                <a:t>1</a:t>
              </a:r>
              <a:endParaRPr lang="zh-CN" altLang="en-US" sz="2400" dirty="0">
                <a:latin typeface="Consolas" panose="020B0609020204030204" pitchFamily="49" charset="0"/>
              </a:endParaRPr>
            </a:p>
          </p:txBody>
        </p:sp>
        <p:grpSp>
          <p:nvGrpSpPr>
            <p:cNvPr id="10" name="组合 70"/>
            <p:cNvGrpSpPr/>
            <p:nvPr/>
          </p:nvGrpSpPr>
          <p:grpSpPr bwMode="auto">
            <a:xfrm>
              <a:off x="1682487" y="3559172"/>
              <a:ext cx="3865563" cy="371477"/>
              <a:chOff x="1074057" y="1947718"/>
              <a:chExt cx="2899639" cy="371689"/>
            </a:xfrm>
          </p:grpSpPr>
          <p:sp>
            <p:nvSpPr>
              <p:cNvPr id="11" name="圆角矩形 24"/>
              <p:cNvSpPr/>
              <p:nvPr>
                <p:custDataLst>
                  <p:tags r:id="rId7"/>
                </p:custDataLst>
              </p:nvPr>
            </p:nvSpPr>
            <p:spPr>
              <a:xfrm>
                <a:off x="1074057" y="1949309"/>
                <a:ext cx="2899639" cy="370098"/>
              </a:xfrm>
              <a:prstGeom prst="roundRect">
                <a:avLst>
                  <a:gd name="adj" fmla="val 50000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2" name="TextBox 7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76299" y="1947718"/>
                <a:ext cx="2700735" cy="369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讯飞开放平台</a:t>
                </a:r>
                <a:r>
                  <a:rPr lang="en-US" altLang="zh-CN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API</a:t>
                </a: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使用方法</a:t>
                </a:r>
                <a:endPara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38622" y="4741391"/>
            <a:ext cx="4709428" cy="631825"/>
            <a:chOff x="838622" y="3429000"/>
            <a:chExt cx="4709428" cy="631825"/>
          </a:xfrm>
        </p:grpSpPr>
        <p:sp>
          <p:nvSpPr>
            <p:cNvPr id="14" name="菱形 13"/>
            <p:cNvSpPr/>
            <p:nvPr>
              <p:custDataLst>
                <p:tags r:id="rId10"/>
              </p:custDataLst>
            </p:nvPr>
          </p:nvSpPr>
          <p:spPr>
            <a:xfrm>
              <a:off x="838622" y="3429000"/>
              <a:ext cx="842963" cy="631825"/>
            </a:xfrm>
            <a:prstGeom prst="diamon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latin typeface="Consolas" panose="020B0609020204030204" pitchFamily="49" charset="0"/>
                </a:rPr>
                <a:t>4</a:t>
              </a:r>
              <a:endParaRPr lang="zh-CN" altLang="en-US" sz="2400" dirty="0">
                <a:latin typeface="Consolas" panose="020B0609020204030204" pitchFamily="49" charset="0"/>
              </a:endParaRPr>
            </a:p>
          </p:txBody>
        </p:sp>
        <p:grpSp>
          <p:nvGrpSpPr>
            <p:cNvPr id="15" name="组合 70"/>
            <p:cNvGrpSpPr/>
            <p:nvPr/>
          </p:nvGrpSpPr>
          <p:grpSpPr bwMode="auto">
            <a:xfrm>
              <a:off x="1682487" y="3559173"/>
              <a:ext cx="3865563" cy="371476"/>
              <a:chOff x="1074057" y="1947719"/>
              <a:chExt cx="2899639" cy="371688"/>
            </a:xfrm>
          </p:grpSpPr>
          <p:sp>
            <p:nvSpPr>
              <p:cNvPr id="16" name="圆角矩形 24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74057" y="1949309"/>
                <a:ext cx="2899639" cy="370098"/>
              </a:xfrm>
              <a:prstGeom prst="roundRect">
                <a:avLst>
                  <a:gd name="adj" fmla="val 50000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7" name="TextBox 7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176299" y="1947720"/>
                <a:ext cx="2700735" cy="369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延伸阅读</a:t>
                </a:r>
                <a:endPara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850023" y="3301231"/>
            <a:ext cx="4709428" cy="631825"/>
            <a:chOff x="838622" y="3429000"/>
            <a:chExt cx="4709428" cy="631825"/>
          </a:xfrm>
        </p:grpSpPr>
        <p:sp>
          <p:nvSpPr>
            <p:cNvPr id="19" name="菱形 18"/>
            <p:cNvSpPr/>
            <p:nvPr>
              <p:custDataLst>
                <p:tags r:id="rId14"/>
              </p:custDataLst>
            </p:nvPr>
          </p:nvSpPr>
          <p:spPr>
            <a:xfrm>
              <a:off x="838622" y="3429000"/>
              <a:ext cx="842963" cy="631825"/>
            </a:xfrm>
            <a:prstGeom prst="diamon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latin typeface="Consolas" panose="020B0609020204030204" pitchFamily="49" charset="0"/>
                </a:rPr>
                <a:t>2</a:t>
              </a:r>
              <a:endParaRPr lang="zh-CN" altLang="en-US" sz="2400" dirty="0">
                <a:latin typeface="Consolas" panose="020B0609020204030204" pitchFamily="49" charset="0"/>
              </a:endParaRPr>
            </a:p>
          </p:txBody>
        </p:sp>
        <p:grpSp>
          <p:nvGrpSpPr>
            <p:cNvPr id="20" name="组合 70"/>
            <p:cNvGrpSpPr/>
            <p:nvPr/>
          </p:nvGrpSpPr>
          <p:grpSpPr bwMode="auto">
            <a:xfrm>
              <a:off x="1682487" y="3559174"/>
              <a:ext cx="3865563" cy="371475"/>
              <a:chOff x="1074057" y="1947720"/>
              <a:chExt cx="2899639" cy="371687"/>
            </a:xfrm>
          </p:grpSpPr>
          <p:sp>
            <p:nvSpPr>
              <p:cNvPr id="21" name="圆角矩形 2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074057" y="1949309"/>
                <a:ext cx="2899639" cy="370098"/>
              </a:xfrm>
              <a:prstGeom prst="roundRect">
                <a:avLst>
                  <a:gd name="adj" fmla="val 50000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2" name="TextBox 7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176299" y="1947720"/>
                <a:ext cx="2700735" cy="368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智能语音聊天系统</a:t>
                </a:r>
                <a:r>
                  <a:rPr lang="zh-CN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流程</a:t>
                </a:r>
                <a:endPara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§1 </a:t>
            </a:r>
            <a:r>
              <a:rPr lang="zh-CN" altLang="en-US" dirty="0"/>
              <a:t>讯飞开放平台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使用方法</a:t>
            </a:r>
            <a:br>
              <a:rPr lang="en-US" altLang="zh-CN" dirty="0">
                <a:cs typeface="Times New Roman" panose="02020603050405020304" pitchFamily="18" charset="0"/>
              </a:rPr>
            </a:b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b="0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7820298" cy="1976256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</a:t>
            </a:r>
            <a:r>
              <a:rPr lang="zh-CN" altLang="en-US" dirty="0">
                <a:cs typeface="Times New Roman" panose="02020603050405020304" pitchFamily="18" charset="0"/>
              </a:rPr>
              <a:t>系统相关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介绍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智能语音聊天系统相关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文档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§1 </a:t>
            </a:r>
            <a:r>
              <a:rPr lang="zh-CN" altLang="en-US" dirty="0"/>
              <a:t>讯飞开放平台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使用方法</a:t>
            </a:r>
            <a:br>
              <a:rPr lang="en-US" altLang="zh-CN" dirty="0">
                <a:cs typeface="Times New Roman" panose="02020603050405020304" pitchFamily="18" charset="0"/>
              </a:rPr>
            </a:b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b="0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7820298" cy="1976256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</a:t>
            </a:r>
            <a:r>
              <a:rPr lang="zh-CN" altLang="en-US" dirty="0">
                <a:cs typeface="Times New Roman" panose="02020603050405020304" pitchFamily="18" charset="0"/>
              </a:rPr>
              <a:t>系统相关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介绍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cs typeface="Times New Roman" panose="02020603050405020304" pitchFamily="18" charset="0"/>
                <a:sym typeface="+mn-ea"/>
              </a:rPr>
              <a:t>智能语音聊天系统相关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cs typeface="Times New Roman" panose="02020603050405020304" pitchFamily="18" charset="0"/>
              </a:rPr>
              <a:t>API文档</a:t>
            </a:r>
            <a:endParaRPr lang="zh-CN" altLang="en-US" dirty="0">
              <a:solidFill>
                <a:schemeClr val="bg1">
                  <a:lumMod val="85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 </a:t>
            </a:r>
            <a:r>
              <a:rPr lang="zh-CN" altLang="en-US" dirty="0"/>
              <a:t>语音听写</a:t>
            </a:r>
            <a:r>
              <a:rPr lang="en-US" altLang="zh-CN" dirty="0"/>
              <a:t>API</a:t>
            </a:r>
            <a:endParaRPr lang="en-US" altLang="zh-CN" dirty="0"/>
          </a:p>
          <a:p>
            <a:pPr lvl="1"/>
            <a:r>
              <a:rPr lang="zh-CN" altLang="en-US" dirty="0"/>
              <a:t>位于讯飞开放平台上的语音识别服务下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72825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语音听写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480" y="2348865"/>
            <a:ext cx="7408545" cy="4111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8049503" cy="4749716"/>
          </a:xfrm>
        </p:spPr>
        <p:txBody>
          <a:bodyPr/>
          <a:lstStyle/>
          <a:p>
            <a:r>
              <a:rPr lang="zh-CN" altLang="en-US" dirty="0"/>
              <a:t>获取语音听写服务接口认证信息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获取语音听写</a:t>
            </a:r>
            <a:r>
              <a:rPr lang="en-US" altLang="zh-CN" dirty="0"/>
              <a:t>API</a:t>
            </a:r>
            <a:r>
              <a:rPr lang="zh-CN" altLang="en-US" dirty="0"/>
              <a:t>接口地址</a:t>
            </a:r>
            <a:endParaRPr lang="en-US" altLang="zh-CN" dirty="0"/>
          </a:p>
          <a:p>
            <a:pPr lvl="1"/>
            <a:r>
              <a:rPr lang="en-US" altLang="zh-CN" dirty="0"/>
              <a:t>wss://iat-api.xfyun.cn/v2/iat</a:t>
            </a:r>
            <a:endParaRPr lang="en-US" altLang="zh-CN" dirty="0"/>
          </a:p>
          <a:p>
            <a:r>
              <a:rPr lang="zh-CN" altLang="en-US" dirty="0"/>
              <a:t>查看对应的接口文档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4646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语音听写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9267" y="1784662"/>
            <a:ext cx="5286375" cy="2066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614" y="4725144"/>
            <a:ext cx="7600950" cy="1485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语音听写 </a:t>
            </a:r>
            <a:r>
              <a:rPr lang="en-US" altLang="zh-CN" dirty="0"/>
              <a:t>API </a:t>
            </a:r>
            <a:r>
              <a:rPr lang="zh-CN" altLang="en-US" dirty="0"/>
              <a:t>文档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接口说明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接口</a:t>
            </a:r>
            <a:r>
              <a:rPr lang="en-US" altLang="zh-CN" dirty="0"/>
              <a:t>Demo</a:t>
            </a:r>
            <a:endParaRPr lang="zh-CN" altLang="en-US" dirty="0"/>
          </a:p>
          <a:p>
            <a:pPr lvl="1"/>
            <a:r>
              <a:rPr lang="zh-CN" altLang="en-US" dirty="0"/>
              <a:t>接口要求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接口调用流程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调用示例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4646" y="256257"/>
            <a:ext cx="6438498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语音听写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062" y="1760351"/>
            <a:ext cx="1656184" cy="4003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 </a:t>
            </a:r>
            <a:r>
              <a:rPr lang="zh-CN" altLang="en-US" dirty="0"/>
              <a:t>讯飞星火</a:t>
            </a:r>
            <a:r>
              <a:rPr lang="en-US" altLang="zh-CN" dirty="0"/>
              <a:t>X1 API</a:t>
            </a:r>
            <a:endParaRPr lang="en-US" altLang="zh-CN" dirty="0"/>
          </a:p>
          <a:p>
            <a:pPr lvl="1"/>
            <a:r>
              <a:rPr lang="zh-CN" altLang="en-US" dirty="0"/>
              <a:t>位于讯飞开放平台上的星火认知</a:t>
            </a:r>
            <a:r>
              <a:rPr lang="zh-CN" altLang="en-US" dirty="0"/>
              <a:t>大模型服务下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72825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讯飞星火大模型</a:t>
            </a:r>
            <a:r>
              <a:rPr lang="en-US" altLang="zh-CN" dirty="0">
                <a:cs typeface="Times New Roman" panose="02020603050405020304" pitchFamily="18" charset="0"/>
              </a:rPr>
              <a:t> 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348865"/>
            <a:ext cx="7330440" cy="40678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8049503" cy="4749716"/>
          </a:xfrm>
        </p:spPr>
        <p:txBody>
          <a:bodyPr/>
          <a:lstStyle/>
          <a:p>
            <a:r>
              <a:rPr lang="zh-CN" altLang="en-US" dirty="0"/>
              <a:t>获取</a:t>
            </a:r>
            <a:r>
              <a:rPr lang="en-US" altLang="zh-CN" dirty="0"/>
              <a:t>spark-X1</a:t>
            </a:r>
            <a:r>
              <a:rPr lang="zh-CN" altLang="en-US" dirty="0"/>
              <a:t>服务接口认证信息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获取语音听写</a:t>
            </a:r>
            <a:r>
              <a:rPr lang="en-US" altLang="zh-CN" dirty="0"/>
              <a:t>API</a:t>
            </a:r>
            <a:r>
              <a:rPr lang="zh-CN" altLang="en-US" dirty="0"/>
              <a:t>接口地址</a:t>
            </a:r>
            <a:endParaRPr lang="en-US" altLang="zh-CN" dirty="0"/>
          </a:p>
          <a:p>
            <a:pPr lvl="1"/>
            <a:r>
              <a:rPr lang="en-US" altLang="zh-CN" dirty="0"/>
              <a:t>wss://spark-api.xf-yun.com/v1/x1</a:t>
            </a:r>
            <a:endParaRPr lang="en-US" altLang="zh-CN" dirty="0"/>
          </a:p>
          <a:p>
            <a:r>
              <a:rPr lang="zh-CN" altLang="en-US" dirty="0"/>
              <a:t>查看对应的接口文档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4646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讯飞星火大模型</a:t>
            </a:r>
            <a:r>
              <a:rPr lang="en-US" altLang="zh-CN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9267" y="1784662"/>
            <a:ext cx="5286375" cy="2066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580" y="4653280"/>
            <a:ext cx="8979535" cy="1486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spark-X1</a:t>
            </a:r>
            <a:r>
              <a:rPr lang="zh-CN" altLang="en-US" dirty="0"/>
              <a:t> </a:t>
            </a:r>
            <a:r>
              <a:rPr lang="en-US" altLang="zh-CN" dirty="0"/>
              <a:t>API </a:t>
            </a:r>
            <a:r>
              <a:rPr lang="zh-CN" altLang="en-US" dirty="0"/>
              <a:t>文档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接口说明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接口</a:t>
            </a:r>
            <a:r>
              <a:rPr lang="en-US" altLang="zh-CN" dirty="0"/>
              <a:t>Demo</a:t>
            </a:r>
            <a:endParaRPr lang="zh-CN" altLang="en-US" dirty="0"/>
          </a:p>
          <a:p>
            <a:pPr lvl="1"/>
            <a:r>
              <a:rPr lang="zh-CN" altLang="en-US" dirty="0"/>
              <a:t>接口要求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接口调用流程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调用示例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4646" y="256257"/>
            <a:ext cx="6438498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讯飞星火大模型</a:t>
            </a:r>
            <a:r>
              <a:rPr lang="en-US" altLang="zh-CN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062" y="1760351"/>
            <a:ext cx="1656184" cy="4003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 </a:t>
            </a:r>
            <a:r>
              <a:rPr lang="zh-CN" altLang="en-US" dirty="0"/>
              <a:t>语音合成</a:t>
            </a:r>
            <a:r>
              <a:rPr lang="en-US" altLang="zh-CN" dirty="0"/>
              <a:t>API</a:t>
            </a:r>
            <a:endParaRPr lang="en-US" altLang="zh-CN" dirty="0"/>
          </a:p>
          <a:p>
            <a:pPr lvl="1"/>
            <a:r>
              <a:rPr lang="zh-CN" altLang="en-US" dirty="0"/>
              <a:t>位于讯飞开放平台上的语音合成服务下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72825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语音合成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445" y="2348865"/>
            <a:ext cx="7354570" cy="40817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8049503" cy="4749716"/>
          </a:xfrm>
        </p:spPr>
        <p:txBody>
          <a:bodyPr/>
          <a:lstStyle/>
          <a:p>
            <a:r>
              <a:rPr lang="zh-CN" altLang="en-US" dirty="0"/>
              <a:t>获取语音合成服务接口认证信息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获取语音合成</a:t>
            </a:r>
            <a:r>
              <a:rPr lang="en-US" altLang="zh-CN" dirty="0"/>
              <a:t>API</a:t>
            </a:r>
            <a:r>
              <a:rPr lang="zh-CN" altLang="en-US" dirty="0"/>
              <a:t>接口地址</a:t>
            </a:r>
            <a:endParaRPr lang="en-US" altLang="zh-CN" dirty="0"/>
          </a:p>
          <a:p>
            <a:pPr lvl="1"/>
            <a:r>
              <a:rPr lang="en-US" altLang="zh-CN" dirty="0"/>
              <a:t>wss://tts-api.xfyun.cn/v2/tts</a:t>
            </a:r>
            <a:endParaRPr lang="en-US" altLang="zh-CN" dirty="0"/>
          </a:p>
          <a:p>
            <a:r>
              <a:rPr lang="zh-CN" altLang="en-US" dirty="0"/>
              <a:t>查看对应的接口文档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4646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语音合成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8576"/>
          <a:stretch>
            <a:fillRect/>
          </a:stretch>
        </p:blipFill>
        <p:spPr>
          <a:xfrm>
            <a:off x="6019031" y="1916832"/>
            <a:ext cx="5085556" cy="2266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942" y="4725144"/>
            <a:ext cx="7591425" cy="1504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语音合成 </a:t>
            </a:r>
            <a:r>
              <a:rPr lang="en-US" altLang="zh-CN" dirty="0"/>
              <a:t>API </a:t>
            </a:r>
            <a:r>
              <a:rPr lang="zh-CN" altLang="en-US" dirty="0"/>
              <a:t>文档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接口说明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接口</a:t>
            </a:r>
            <a:r>
              <a:rPr lang="en-US" altLang="zh-CN" dirty="0"/>
              <a:t>Demo</a:t>
            </a:r>
            <a:endParaRPr lang="zh-CN" altLang="en-US" dirty="0"/>
          </a:p>
          <a:p>
            <a:pPr lvl="1"/>
            <a:r>
              <a:rPr lang="zh-CN" altLang="en-US" dirty="0"/>
              <a:t>接口要求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接口调用流程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调用示例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4646" y="256257"/>
            <a:ext cx="6438498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语音合成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接口信息及文档</a:t>
            </a: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014" y="1556792"/>
            <a:ext cx="2304256" cy="45946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§1 </a:t>
            </a:r>
            <a:r>
              <a:rPr lang="zh-CN" altLang="en-US" dirty="0"/>
              <a:t>讯飞开放平台</a:t>
            </a:r>
            <a:r>
              <a:rPr lang="en-US" altLang="zh-CN" dirty="0"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cs typeface="Times New Roman" panose="02020603050405020304" pitchFamily="18" charset="0"/>
              </a:rPr>
              <a:t>使用方法</a:t>
            </a:r>
            <a:br>
              <a:rPr lang="en-US" altLang="zh-CN" dirty="0">
                <a:cs typeface="Times New Roman" panose="02020603050405020304" pitchFamily="18" charset="0"/>
              </a:rPr>
            </a:br>
            <a:br>
              <a:rPr lang="en-US" altLang="zh-CN" dirty="0">
                <a:cs typeface="Times New Roman" panose="02020603050405020304" pitchFamily="18" charset="0"/>
              </a:rPr>
            </a:br>
            <a:endParaRPr lang="zh-CN" altLang="en-US" b="0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7820298" cy="1976256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cs typeface="Times New Roman" panose="02020603050405020304" pitchFamily="18" charset="0"/>
                <a:sym typeface="+mn-ea"/>
              </a:rPr>
              <a:t>智能语音聊天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cs typeface="Times New Roman" panose="02020603050405020304" pitchFamily="18" charset="0"/>
              </a:rPr>
              <a:t>系统相关API介绍</a:t>
            </a:r>
            <a:endParaRPr lang="zh-CN" altLang="en-US" dirty="0">
              <a:solidFill>
                <a:schemeClr val="bg1">
                  <a:lumMod val="85000"/>
                </a:schemeClr>
              </a:solidFill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智能语音聊天系统相关</a:t>
            </a:r>
            <a:r>
              <a:rPr lang="zh-CN" altLang="en-US" dirty="0">
                <a:cs typeface="Times New Roman" panose="02020603050405020304" pitchFamily="18" charset="0"/>
              </a:rPr>
              <a:t>API文档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836712"/>
            <a:ext cx="11217855" cy="5439342"/>
          </a:xfrm>
        </p:spPr>
        <p:txBody>
          <a:bodyPr/>
          <a:lstStyle/>
          <a:p>
            <a:r>
              <a:rPr lang="zh-CN" altLang="en-US" dirty="0"/>
              <a:t>语音听写的接口说明</a:t>
            </a:r>
            <a:endParaRPr lang="en-US" altLang="zh-CN" dirty="0"/>
          </a:p>
          <a:p>
            <a:pPr lvl="1"/>
            <a:r>
              <a:rPr lang="zh-CN" altLang="en-US" dirty="0"/>
              <a:t>用于</a:t>
            </a:r>
            <a:r>
              <a:rPr lang="en-US" altLang="zh-CN" dirty="0"/>
              <a:t>1</a:t>
            </a:r>
            <a:r>
              <a:rPr lang="zh-CN" altLang="en-US" dirty="0"/>
              <a:t>分钟内的即时语音转文字技术，支持实时返回识别结果</a:t>
            </a:r>
            <a:endParaRPr lang="en-US" altLang="zh-CN" dirty="0"/>
          </a:p>
          <a:p>
            <a:pPr lvl="1"/>
            <a:r>
              <a:rPr lang="zh-CN" altLang="en-US" dirty="0"/>
              <a:t>达到一边上传音频一边获得识别文本的效果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 err="1">
                <a:solidFill>
                  <a:srgbClr val="FF0000"/>
                </a:solidFill>
              </a:rPr>
              <a:t>websocket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en-US" altLang="zh-CN" dirty="0">
                <a:solidFill>
                  <a:srgbClr val="FF0000"/>
                </a:solidFill>
              </a:rPr>
              <a:t> API</a:t>
            </a:r>
            <a:r>
              <a:rPr lang="zh-CN" altLang="en-US" dirty="0"/>
              <a:t>的方式提供一个通用的接口</a:t>
            </a:r>
            <a:endParaRPr lang="en-US" altLang="zh-CN" dirty="0"/>
          </a:p>
          <a:p>
            <a:pPr lvl="1"/>
            <a:r>
              <a:rPr lang="en-US" altLang="zh-CN" dirty="0" err="1"/>
              <a:t>websocket</a:t>
            </a:r>
            <a:r>
              <a:rPr lang="zh-CN" altLang="en-US" dirty="0"/>
              <a:t>接口</a:t>
            </a:r>
            <a:r>
              <a:rPr lang="en-US" altLang="zh-CN" dirty="0"/>
              <a:t> API</a:t>
            </a:r>
            <a:r>
              <a:rPr lang="zh-CN" altLang="en-US" dirty="0"/>
              <a:t>具备流式传输能力</a:t>
            </a:r>
            <a:endParaRPr lang="en-US" altLang="zh-CN" dirty="0"/>
          </a:p>
          <a:p>
            <a:pPr lvl="1"/>
            <a:r>
              <a:rPr lang="zh-CN" altLang="en-US" dirty="0"/>
              <a:t>适用于需要流式数据传输的</a:t>
            </a:r>
            <a:r>
              <a:rPr lang="en-US" altLang="zh-CN" dirty="0"/>
              <a:t>AI</a:t>
            </a:r>
            <a:r>
              <a:rPr lang="zh-CN" altLang="en-US" dirty="0"/>
              <a:t>服务场景，比如边说话边识别</a:t>
            </a:r>
            <a:endParaRPr lang="en-US" altLang="zh-CN" dirty="0"/>
          </a:p>
          <a:p>
            <a:pPr lvl="1"/>
            <a:r>
              <a:rPr lang="zh-CN" altLang="en-US" dirty="0"/>
              <a:t>相较于</a:t>
            </a:r>
            <a:r>
              <a:rPr lang="en-US" altLang="zh-CN" dirty="0"/>
              <a:t>SDK</a:t>
            </a:r>
            <a:r>
              <a:rPr lang="zh-CN" altLang="en-US" dirty="0"/>
              <a:t>，</a:t>
            </a:r>
            <a:r>
              <a:rPr lang="en-US" altLang="zh-CN" dirty="0"/>
              <a:t>API</a:t>
            </a:r>
            <a:r>
              <a:rPr lang="zh-CN" altLang="en-US" dirty="0"/>
              <a:t>具有轻量、跨语言的特点</a:t>
            </a:r>
            <a:endParaRPr lang="en-US" altLang="zh-CN" dirty="0"/>
          </a:p>
          <a:p>
            <a:pPr lvl="1"/>
            <a:r>
              <a:rPr lang="zh-CN" altLang="en-US" dirty="0"/>
              <a:t>相较于</a:t>
            </a:r>
            <a:r>
              <a:rPr lang="en-US" altLang="zh-CN" dirty="0"/>
              <a:t>HTTP API</a:t>
            </a:r>
            <a:r>
              <a:rPr lang="zh-CN" altLang="en-US" dirty="0"/>
              <a:t>，</a:t>
            </a:r>
            <a:r>
              <a:rPr lang="en-US" altLang="zh-CN" dirty="0" err="1"/>
              <a:t>websocket</a:t>
            </a:r>
            <a:r>
              <a:rPr lang="zh-CN" altLang="en-US" dirty="0"/>
              <a:t>接口</a:t>
            </a:r>
            <a:r>
              <a:rPr lang="en-US" altLang="zh-CN" dirty="0"/>
              <a:t> API</a:t>
            </a:r>
            <a:r>
              <a:rPr lang="zh-CN" altLang="en-US" dirty="0"/>
              <a:t>协议有原生支持跨域的优势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语音听写接口说明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下载调用示例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语言版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语音听写接口说明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95206" y="893988"/>
            <a:ext cx="2165978" cy="58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代码示例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630" y="2780928"/>
            <a:ext cx="3724275" cy="2867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294" y="1610000"/>
            <a:ext cx="4075534" cy="4685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836712"/>
            <a:ext cx="11217855" cy="5439342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讯飞</a:t>
            </a:r>
            <a:r>
              <a:rPr lang="en-US" altLang="zh-CN" dirty="0">
                <a:sym typeface="+mn-ea"/>
              </a:rPr>
              <a:t>spark-X1</a:t>
            </a:r>
            <a:r>
              <a:rPr lang="zh-CN" altLang="en-US" dirty="0"/>
              <a:t>的接口说明</a:t>
            </a:r>
            <a:endParaRPr lang="en-US" altLang="zh-CN" dirty="0"/>
          </a:p>
          <a:p>
            <a:pPr lvl="1"/>
            <a:r>
              <a:rPr lang="zh-CN" altLang="en-US" dirty="0"/>
              <a:t>用于多模态通用人工智能服务，支持文本生成、知识问答、语言翻译、语音识别与合成等多类任务，实现高效的自然语言理解与交互。</a:t>
            </a:r>
            <a:endParaRPr lang="zh-CN" altLang="en-US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 err="1">
                <a:solidFill>
                  <a:srgbClr val="FF0000"/>
                </a:solidFill>
              </a:rPr>
              <a:t>websocket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en-US" altLang="zh-CN" dirty="0">
                <a:solidFill>
                  <a:srgbClr val="FF0000"/>
                </a:solidFill>
              </a:rPr>
              <a:t> API</a:t>
            </a:r>
            <a:r>
              <a:rPr lang="zh-CN" altLang="en-US" dirty="0"/>
              <a:t>的方式提供一个通用的接口</a:t>
            </a:r>
            <a:endParaRPr lang="en-US" altLang="zh-CN" dirty="0"/>
          </a:p>
          <a:p>
            <a:pPr lvl="1"/>
            <a:r>
              <a:rPr lang="zh-CN" altLang="en-US" dirty="0"/>
              <a:t>相较于</a:t>
            </a:r>
            <a:r>
              <a:rPr lang="en-US" altLang="zh-CN" dirty="0"/>
              <a:t>SDK</a:t>
            </a:r>
            <a:r>
              <a:rPr lang="zh-CN" altLang="en-US" dirty="0"/>
              <a:t>，</a:t>
            </a:r>
            <a:r>
              <a:rPr lang="en-US" altLang="zh-CN" dirty="0"/>
              <a:t>API</a:t>
            </a:r>
            <a:r>
              <a:rPr lang="zh-CN" altLang="en-US" dirty="0"/>
              <a:t>具有轻量、跨语言的特点</a:t>
            </a:r>
            <a:endParaRPr lang="en-US" altLang="zh-CN" dirty="0"/>
          </a:p>
          <a:p>
            <a:pPr lvl="1"/>
            <a:r>
              <a:rPr lang="zh-CN" altLang="en-US" dirty="0"/>
              <a:t>相较于</a:t>
            </a:r>
            <a:r>
              <a:rPr lang="en-US" altLang="zh-CN" dirty="0"/>
              <a:t>HTTP API</a:t>
            </a:r>
            <a:r>
              <a:rPr lang="zh-CN" altLang="en-US" dirty="0"/>
              <a:t>，</a:t>
            </a:r>
            <a:r>
              <a:rPr lang="en-US" altLang="zh-CN" dirty="0" err="1"/>
              <a:t>websocket</a:t>
            </a:r>
            <a:r>
              <a:rPr lang="zh-CN" altLang="en-US" dirty="0"/>
              <a:t>接口</a:t>
            </a:r>
            <a:r>
              <a:rPr lang="en-US" altLang="zh-CN" dirty="0"/>
              <a:t> API</a:t>
            </a:r>
            <a:r>
              <a:rPr lang="zh-CN" altLang="en-US" dirty="0"/>
              <a:t>协议有原生支持跨域的优势</a:t>
            </a:r>
            <a:endParaRPr lang="zh-CN" altLang="en-US" dirty="0"/>
          </a:p>
          <a:p>
            <a:pPr lvl="1"/>
            <a:r>
              <a:rPr lang="zh-CN" altLang="en-US" dirty="0"/>
              <a:t>多模态理解与生成：讯飞星火大模型具备文本、语音、图像等多模态的理解与生成能力，可应用于智能客服、教育、办公、医疗、车载等多场景。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星火</a:t>
            </a:r>
            <a:r>
              <a:rPr lang="zh-CN" altLang="en-US" dirty="0">
                <a:cs typeface="Times New Roman" panose="02020603050405020304" pitchFamily="18" charset="0"/>
              </a:rPr>
              <a:t>大模型接口说明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下载调用示例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语言版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星火大模型</a:t>
            </a:r>
            <a:r>
              <a:rPr lang="zh-CN" altLang="en-US" dirty="0">
                <a:cs typeface="Times New Roman" panose="02020603050405020304" pitchFamily="18" charset="0"/>
              </a:rPr>
              <a:t>接口说明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95206" y="893988"/>
            <a:ext cx="2165978" cy="58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代码示例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35" y="2780665"/>
            <a:ext cx="5966460" cy="33197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20" y="1557020"/>
            <a:ext cx="4857750" cy="4798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836712"/>
            <a:ext cx="11217855" cy="5439342"/>
          </a:xfrm>
        </p:spPr>
        <p:txBody>
          <a:bodyPr/>
          <a:lstStyle/>
          <a:p>
            <a:r>
              <a:rPr lang="zh-CN" altLang="en-US" dirty="0"/>
              <a:t>语音合成的接口说明</a:t>
            </a:r>
            <a:endParaRPr lang="en-US" altLang="zh-CN" dirty="0"/>
          </a:p>
          <a:p>
            <a:pPr lvl="1"/>
            <a:r>
              <a:rPr lang="zh-CN" altLang="en-US" dirty="0"/>
              <a:t>将文字信息转化为声音信息</a:t>
            </a:r>
            <a:endParaRPr lang="en-US" altLang="zh-CN" dirty="0"/>
          </a:p>
          <a:p>
            <a:pPr lvl="1"/>
            <a:r>
              <a:rPr lang="zh-CN" altLang="en-US" dirty="0"/>
              <a:t>提供了众多极具特色的发音人（音库）供选择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 err="1">
                <a:solidFill>
                  <a:srgbClr val="FF0000"/>
                </a:solidFill>
              </a:rPr>
              <a:t>websocket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en-US" altLang="zh-CN" dirty="0">
                <a:solidFill>
                  <a:srgbClr val="FF0000"/>
                </a:solidFill>
              </a:rPr>
              <a:t> API</a:t>
            </a:r>
            <a:r>
              <a:rPr lang="zh-CN" altLang="en-US" dirty="0"/>
              <a:t>的方式提供一个通用的接口</a:t>
            </a:r>
            <a:endParaRPr lang="en-US" altLang="zh-CN" dirty="0"/>
          </a:p>
          <a:p>
            <a:pPr lvl="1"/>
            <a:r>
              <a:rPr lang="en-US" altLang="zh-CN" dirty="0" err="1"/>
              <a:t>websocket</a:t>
            </a:r>
            <a:r>
              <a:rPr lang="zh-CN" altLang="en-US" dirty="0"/>
              <a:t>接口</a:t>
            </a:r>
            <a:r>
              <a:rPr lang="en-US" altLang="zh-CN" dirty="0"/>
              <a:t> API</a:t>
            </a:r>
            <a:r>
              <a:rPr lang="zh-CN" altLang="en-US" dirty="0"/>
              <a:t>具备流式传输能力</a:t>
            </a:r>
            <a:endParaRPr lang="en-US" altLang="zh-CN" dirty="0"/>
          </a:p>
          <a:p>
            <a:pPr lvl="1"/>
            <a:r>
              <a:rPr lang="zh-CN" altLang="en-US" dirty="0"/>
              <a:t>相较于</a:t>
            </a:r>
            <a:r>
              <a:rPr lang="en-US" altLang="zh-CN" dirty="0"/>
              <a:t>SDK</a:t>
            </a:r>
            <a:r>
              <a:rPr lang="zh-CN" altLang="en-US" dirty="0"/>
              <a:t>，</a:t>
            </a:r>
            <a:r>
              <a:rPr lang="en-US" altLang="zh-CN" dirty="0"/>
              <a:t>API</a:t>
            </a:r>
            <a:r>
              <a:rPr lang="zh-CN" altLang="en-US" dirty="0"/>
              <a:t>具有轻量、跨语言的特点</a:t>
            </a:r>
            <a:endParaRPr lang="en-US" altLang="zh-CN" dirty="0"/>
          </a:p>
          <a:p>
            <a:pPr lvl="1"/>
            <a:r>
              <a:rPr lang="zh-CN" altLang="en-US" dirty="0"/>
              <a:t>相较于</a:t>
            </a:r>
            <a:r>
              <a:rPr lang="en-US" altLang="zh-CN" dirty="0"/>
              <a:t>HTTP API</a:t>
            </a:r>
            <a:r>
              <a:rPr lang="zh-CN" altLang="en-US" dirty="0"/>
              <a:t>，</a:t>
            </a:r>
            <a:r>
              <a:rPr lang="en-US" altLang="zh-CN" dirty="0" err="1"/>
              <a:t>websocket</a:t>
            </a:r>
            <a:r>
              <a:rPr lang="zh-CN" altLang="en-US" dirty="0"/>
              <a:t>接口</a:t>
            </a:r>
            <a:r>
              <a:rPr lang="en-US" altLang="zh-CN" dirty="0"/>
              <a:t> API</a:t>
            </a:r>
            <a:r>
              <a:rPr lang="zh-CN" altLang="en-US" dirty="0"/>
              <a:t>协议有原生支持跨域的优势</a:t>
            </a:r>
            <a:endParaRPr lang="en-US" altLang="zh-CN" dirty="0"/>
          </a:p>
          <a:p>
            <a:pPr lvl="1"/>
            <a:r>
              <a:rPr lang="zh-CN" altLang="en-US" dirty="0"/>
              <a:t>在线体验发音人效果：</a:t>
            </a:r>
            <a:r>
              <a:rPr lang="en-US" altLang="zh-CN" dirty="0">
                <a:hlinkClick r:id="rId1"/>
              </a:rPr>
              <a:t>https://www.xfyun.cn/services/online_tts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语音合成接口说明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765175"/>
            <a:ext cx="4131310" cy="26885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1334886"/>
          </a:xfrm>
        </p:spPr>
        <p:txBody>
          <a:bodyPr/>
          <a:lstStyle/>
          <a:p>
            <a:r>
              <a:rPr lang="zh-CN" altLang="en-US" dirty="0"/>
              <a:t>下载调用示例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语言版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语音合成接口说明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95206" y="893988"/>
            <a:ext cx="2165978" cy="58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代码示例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198" y="2852936"/>
            <a:ext cx="3924300" cy="2409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270" y="1576861"/>
            <a:ext cx="4409116" cy="4782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§2 </a:t>
            </a:r>
            <a:r>
              <a:rPr lang="zh-CN" altLang="en-US" dirty="0">
                <a:cs typeface="Times New Roman" panose="02020603050405020304" pitchFamily="18" charset="0"/>
              </a:rPr>
              <a:t>智能语音</a:t>
            </a:r>
            <a:r>
              <a:rPr lang="zh-CN" altLang="en-US" dirty="0">
                <a:cs typeface="Times New Roman" panose="02020603050405020304" pitchFamily="18" charset="0"/>
              </a:rPr>
              <a:t>聊天系统流程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7820298" cy="2808312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</a:t>
            </a:r>
            <a:r>
              <a:rPr lang="zh-CN" altLang="en-US" dirty="0"/>
              <a:t>框架及</a:t>
            </a:r>
            <a:r>
              <a:rPr lang="zh-CN" altLang="en-US" dirty="0"/>
              <a:t>流程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72825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智能语音聊天系统流程</a:t>
            </a:r>
            <a:r>
              <a:rPr lang="zh-CN" altLang="en-US" dirty="0">
                <a:sym typeface="+mn-ea"/>
              </a:rPr>
              <a:t>及框架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2134870" y="7648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系统架构（总览）</a:t>
            </a:r>
            <a:endParaRPr sz="4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94506" y="2779929"/>
            <a:ext cx="10971213" cy="4749716"/>
          </a:xfrm>
        </p:spPr>
        <p:txBody>
          <a:bodyPr/>
          <a:lstStyle/>
          <a:p>
            <a:r>
              <a:rPr sz="2400">
                <a:latin typeface="微软雅黑" panose="020B0503020204020204" pitchFamily="34" charset="-122"/>
                <a:cs typeface="微软雅黑" panose="020B0503020204020204" pitchFamily="34" charset="-122"/>
              </a:rPr>
              <a:t>输入端：麦克风采集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sz="2400">
                <a:latin typeface="微软雅黑" panose="020B0503020204020204" pitchFamily="34" charset="-122"/>
                <a:cs typeface="微软雅黑" panose="020B0503020204020204" pitchFamily="34" charset="-122"/>
              </a:rPr>
              <a:t>ASR：流式/非流式语音听写，输出文本与置信度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sz="2400">
                <a:latin typeface="微软雅黑" panose="020B0503020204020204" pitchFamily="34" charset="-122"/>
                <a:cs typeface="微软雅黑" panose="020B0503020204020204" pitchFamily="34" charset="-122"/>
              </a:rPr>
              <a:t>LLM：讯飞星火大模型负责理解/规划/生成回复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sz="2400">
                <a:latin typeface="微软雅黑" panose="020B0503020204020204" pitchFamily="34" charset="-122"/>
                <a:cs typeface="微软雅黑" panose="020B0503020204020204" pitchFamily="34" charset="-122"/>
              </a:rPr>
              <a:t>TTS：将文本响应转为自然语音，支持角色音色/语速/语调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sz="2400">
                <a:latin typeface="微软雅黑" panose="020B0503020204020204" pitchFamily="34" charset="-122"/>
                <a:cs typeface="微软雅黑" panose="020B0503020204020204" pitchFamily="34" charset="-122"/>
              </a:rPr>
              <a:t>输出端：扬声器播放；同时记录日志与对话状态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sz="2000">
                <a:latin typeface="微软雅黑" panose="020B0503020204020204" pitchFamily="34" charset="-122"/>
                <a:cs typeface="微软雅黑" panose="020B0503020204020204" pitchFamily="34" charset="-122"/>
              </a:rPr>
              <a:t>关键设计：低延迟环路（ASR→LLM→TTS）与容错重试</a:t>
            </a:r>
            <a:endParaRPr sz="20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398145" y="1844040"/>
            <a:ext cx="1828800" cy="914400"/>
          </a:xfrm>
          <a:prstGeom prst="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麦克风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(音频)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Rectangle 3"/>
          <p:cNvSpPr/>
          <p:nvPr/>
        </p:nvSpPr>
        <p:spPr>
          <a:xfrm>
            <a:off x="2827020" y="1844040"/>
            <a:ext cx="1828800" cy="914400"/>
          </a:xfrm>
          <a:prstGeom prst="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ASR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(语音听写)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4"/>
          <p:cNvSpPr/>
          <p:nvPr/>
        </p:nvSpPr>
        <p:spPr>
          <a:xfrm>
            <a:off x="5145405" y="1844040"/>
            <a:ext cx="1828800" cy="914400"/>
          </a:xfrm>
          <a:prstGeom prst="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(星火)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ectangle 5"/>
          <p:cNvSpPr/>
          <p:nvPr/>
        </p:nvSpPr>
        <p:spPr>
          <a:xfrm>
            <a:off x="7463790" y="1844040"/>
            <a:ext cx="1828800" cy="914400"/>
          </a:xfrm>
          <a:prstGeom prst="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TTS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(语音合成)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Rectangle 6"/>
          <p:cNvSpPr/>
          <p:nvPr/>
        </p:nvSpPr>
        <p:spPr>
          <a:xfrm>
            <a:off x="9831070" y="1844040"/>
            <a:ext cx="1828800" cy="914400"/>
          </a:xfrm>
          <a:prstGeom prst="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扬声器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(音频)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5" name="直接箭头连接符 24"/>
          <p:cNvCxnSpPr>
            <a:stCxn id="11" idx="3"/>
            <a:endCxn id="16" idx="1"/>
          </p:cNvCxnSpPr>
          <p:nvPr/>
        </p:nvCxnSpPr>
        <p:spPr>
          <a:xfrm>
            <a:off x="2226945" y="2301240"/>
            <a:ext cx="600075" cy="0"/>
          </a:xfrm>
          <a:prstGeom prst="straightConnector1">
            <a:avLst/>
          </a:prstGeom>
          <a:solidFill>
            <a:srgbClr val="1F497D"/>
          </a:solidFill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6" idx="3"/>
            <a:endCxn id="18" idx="1"/>
          </p:cNvCxnSpPr>
          <p:nvPr/>
        </p:nvCxnSpPr>
        <p:spPr>
          <a:xfrm>
            <a:off x="4655820" y="2301240"/>
            <a:ext cx="489585" cy="0"/>
          </a:xfrm>
          <a:prstGeom prst="straightConnector1">
            <a:avLst/>
          </a:prstGeom>
          <a:solidFill>
            <a:srgbClr val="1F497D"/>
          </a:solidFill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8" idx="3"/>
            <a:endCxn id="19" idx="1"/>
          </p:cNvCxnSpPr>
          <p:nvPr/>
        </p:nvCxnSpPr>
        <p:spPr>
          <a:xfrm>
            <a:off x="6974205" y="2301240"/>
            <a:ext cx="489585" cy="0"/>
          </a:xfrm>
          <a:prstGeom prst="straightConnector1">
            <a:avLst/>
          </a:prstGeom>
          <a:solidFill>
            <a:srgbClr val="1F497D"/>
          </a:solidFill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9" idx="3"/>
            <a:endCxn id="24" idx="1"/>
          </p:cNvCxnSpPr>
          <p:nvPr/>
        </p:nvCxnSpPr>
        <p:spPr>
          <a:xfrm>
            <a:off x="9292590" y="2301240"/>
            <a:ext cx="538480" cy="0"/>
          </a:xfrm>
          <a:prstGeom prst="straightConnector1">
            <a:avLst/>
          </a:prstGeom>
          <a:solidFill>
            <a:srgbClr val="1F497D"/>
          </a:solidFill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72825" y="256257"/>
            <a:ext cx="6726530" cy="652463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智能语音聊天系统流程</a:t>
            </a:r>
            <a:r>
              <a:rPr lang="zh-CN" altLang="en-US" dirty="0">
                <a:sym typeface="+mn-ea"/>
              </a:rPr>
              <a:t>及框架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295" y="1788795"/>
            <a:ext cx="5103495" cy="45764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10393" y="1054142"/>
            <a:ext cx="10971213" cy="4749716"/>
          </a:xfrm>
        </p:spPr>
        <p:txBody>
          <a:bodyPr/>
          <a:p>
            <a:r>
              <a:rPr lang="zh-CN" altLang="en-US" dirty="0"/>
              <a:t>先看一下实现的效果（浏览器页面）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这时你是不是有个疑问：</a:t>
            </a:r>
            <a:endParaRPr lang="en-US" altLang="zh-CN" dirty="0"/>
          </a:p>
          <a:p>
            <a:pPr lvl="1"/>
            <a:r>
              <a:rPr lang="zh-CN" altLang="en-US" dirty="0"/>
              <a:t>这个和我们平时输入</a:t>
            </a:r>
            <a:r>
              <a:rPr lang="en-US" altLang="zh-CN" dirty="0">
                <a:hlinkClick r:id="rId1"/>
              </a:rPr>
              <a:t>www.baidu.com</a:t>
            </a:r>
            <a:r>
              <a:rPr lang="zh-CN" altLang="en-US" dirty="0"/>
              <a:t>，等待几秒以后，网页出现百度搜索页面</a:t>
            </a:r>
            <a:r>
              <a:rPr lang="zh-CN" altLang="en-US" dirty="0">
                <a:solidFill>
                  <a:srgbClr val="FF0000"/>
                </a:solidFill>
              </a:rPr>
              <a:t>有些类似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这里输入一个网页</a:t>
            </a:r>
            <a:r>
              <a:rPr lang="en-US" altLang="zh-CN" dirty="0"/>
              <a:t>IP</a:t>
            </a:r>
            <a:r>
              <a:rPr lang="zh-CN" altLang="en-US" dirty="0"/>
              <a:t>地址：</a:t>
            </a:r>
            <a:r>
              <a:rPr lang="en-US" altLang="zh-CN" dirty="0">
                <a:solidFill>
                  <a:srgbClr val="FF0000"/>
                </a:solidFill>
              </a:rPr>
              <a:t>127.0.0.1:5000</a:t>
            </a:r>
            <a:r>
              <a:rPr lang="zh-CN" altLang="en-US" dirty="0"/>
              <a:t>，等待几秒，同样网页上就会有内容</a:t>
            </a:r>
            <a:endParaRPr lang="en-US" altLang="zh-CN" dirty="0"/>
          </a:p>
          <a:p>
            <a:r>
              <a:rPr lang="zh-CN" altLang="en-US" dirty="0"/>
              <a:t>那么其背后究竟发生了什么？又有怎样的过程呢？</a:t>
            </a:r>
            <a:endParaRPr lang="en-US" altLang="zh-CN" dirty="0"/>
          </a:p>
          <a:p>
            <a:r>
              <a:rPr lang="zh-CN" altLang="en-US" dirty="0"/>
              <a:t>让我们看一下整体发生的流程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智能语音聊天系统流程</a:t>
            </a:r>
            <a:r>
              <a:rPr lang="zh-CN" altLang="en-US" dirty="0">
                <a:sym typeface="+mn-ea"/>
              </a:rPr>
              <a:t>及框架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457" y="2746299"/>
            <a:ext cx="1549441" cy="150107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智能语音聊天系统流程</a:t>
            </a:r>
            <a:r>
              <a:rPr lang="zh-CN" altLang="en-US" dirty="0"/>
              <a:t>及框架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234936" y="2305381"/>
            <a:ext cx="1439815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用户浏览器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682491" y="247702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请求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77407" y="4146750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响应结果</a:t>
            </a:r>
            <a:endParaRPr lang="zh-CN" altLang="en-US" sz="1100" dirty="0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1693579" y="3279803"/>
            <a:ext cx="648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1674751" y="4053197"/>
            <a:ext cx="648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2507447" y="1956429"/>
            <a:ext cx="2520000" cy="3208953"/>
            <a:chOff x="2507447" y="1956429"/>
            <a:chExt cx="2520000" cy="3208953"/>
          </a:xfrm>
        </p:grpSpPr>
        <p:grpSp>
          <p:nvGrpSpPr>
            <p:cNvPr id="9" name="组合 8"/>
            <p:cNvGrpSpPr/>
            <p:nvPr/>
          </p:nvGrpSpPr>
          <p:grpSpPr>
            <a:xfrm>
              <a:off x="2507447" y="2039787"/>
              <a:ext cx="2520000" cy="3125595"/>
              <a:chOff x="2507447" y="2039787"/>
              <a:chExt cx="2520000" cy="3125595"/>
            </a:xfrm>
          </p:grpSpPr>
          <p:sp>
            <p:nvSpPr>
              <p:cNvPr id="28" name="圆角矩形 4"/>
              <p:cNvSpPr/>
              <p:nvPr/>
            </p:nvSpPr>
            <p:spPr>
              <a:xfrm>
                <a:off x="2507447" y="2039787"/>
                <a:ext cx="2520000" cy="3125595"/>
              </a:xfrm>
              <a:prstGeom prst="roundRect">
                <a:avLst>
                  <a:gd name="adj" fmla="val 9039"/>
                </a:avLst>
              </a:prstGeom>
              <a:solidFill>
                <a:schemeClr val="accent1"/>
              </a:solidFill>
              <a:ln w="31750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tx1">
                    <a:lumMod val="65000"/>
                    <a:lumOff val="35000"/>
                    <a:alpha val="49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9" name="圆角矩形 5"/>
              <p:cNvSpPr/>
              <p:nvPr/>
            </p:nvSpPr>
            <p:spPr>
              <a:xfrm>
                <a:off x="2633326" y="2258570"/>
                <a:ext cx="2268226" cy="2688016"/>
              </a:xfrm>
              <a:prstGeom prst="roundRect">
                <a:avLst>
                  <a:gd name="adj" fmla="val 9613"/>
                </a:avLst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/>
              <a:scene3d>
                <a:camera prst="orthographicFront"/>
                <a:lightRig rig="threePt" dir="t"/>
              </a:scene3d>
              <a:sp3d prstMaterial="softEdge">
                <a:bevelT w="0" h="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63" name="矩形: 圆角 62"/>
            <p:cNvSpPr/>
            <p:nvPr/>
          </p:nvSpPr>
          <p:spPr>
            <a:xfrm>
              <a:off x="2837466" y="1956429"/>
              <a:ext cx="1953576" cy="40862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Web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前端服务器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837466" y="3238482"/>
              <a:ext cx="1836806" cy="643835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智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能语音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聊天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020997" y="1893037"/>
            <a:ext cx="2520000" cy="3207600"/>
            <a:chOff x="6020997" y="1893037"/>
            <a:chExt cx="2520000" cy="3207600"/>
          </a:xfrm>
        </p:grpSpPr>
        <p:grpSp>
          <p:nvGrpSpPr>
            <p:cNvPr id="6" name="组合 5"/>
            <p:cNvGrpSpPr/>
            <p:nvPr/>
          </p:nvGrpSpPr>
          <p:grpSpPr>
            <a:xfrm>
              <a:off x="6020997" y="2020176"/>
              <a:ext cx="2520000" cy="3080461"/>
              <a:chOff x="6020997" y="2020176"/>
              <a:chExt cx="2520000" cy="3080461"/>
            </a:xfrm>
          </p:grpSpPr>
          <p:sp>
            <p:nvSpPr>
              <p:cNvPr id="114" name="圆角矩形 4"/>
              <p:cNvSpPr/>
              <p:nvPr/>
            </p:nvSpPr>
            <p:spPr>
              <a:xfrm>
                <a:off x="6020997" y="2020176"/>
                <a:ext cx="2520000" cy="3080461"/>
              </a:xfrm>
              <a:prstGeom prst="roundRect">
                <a:avLst>
                  <a:gd name="adj" fmla="val 9039"/>
                </a:avLst>
              </a:prstGeom>
              <a:solidFill>
                <a:schemeClr val="accent1"/>
              </a:solidFill>
              <a:ln w="31750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innerShdw blurRad="127000" dist="63500" dir="13500000">
                  <a:schemeClr val="tx1">
                    <a:lumMod val="65000"/>
                    <a:lumOff val="35000"/>
                    <a:alpha val="49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15" name="圆角矩形 5"/>
              <p:cNvSpPr/>
              <p:nvPr/>
            </p:nvSpPr>
            <p:spPr>
              <a:xfrm>
                <a:off x="6146876" y="2235800"/>
                <a:ext cx="2268226" cy="2649200"/>
              </a:xfrm>
              <a:prstGeom prst="roundRect">
                <a:avLst>
                  <a:gd name="adj" fmla="val 9613"/>
                </a:avLst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/>
              <a:scene3d>
                <a:camera prst="orthographicFront"/>
                <a:lightRig rig="threePt" dir="t"/>
              </a:scene3d>
              <a:sp3d prstMaterial="softEdge">
                <a:bevelT w="0" h="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5" name="矩形: 圆角 14"/>
            <p:cNvSpPr/>
            <p:nvPr/>
          </p:nvSpPr>
          <p:spPr>
            <a:xfrm>
              <a:off x="6427444" y="1893037"/>
              <a:ext cx="1707091" cy="37426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Flask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后台服务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409789" y="3226441"/>
              <a:ext cx="1742400" cy="648000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智能语音聊天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服务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cxnSp>
        <p:nvCxnSpPr>
          <p:cNvPr id="119" name="直接箭头连接符 118"/>
          <p:cNvCxnSpPr/>
          <p:nvPr/>
        </p:nvCxnSpPr>
        <p:spPr>
          <a:xfrm flipV="1">
            <a:off x="5189749" y="3214039"/>
            <a:ext cx="648000" cy="624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H="1">
            <a:off x="5189749" y="4053197"/>
            <a:ext cx="648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/>
          <p:cNvSpPr/>
          <p:nvPr/>
        </p:nvSpPr>
        <p:spPr>
          <a:xfrm>
            <a:off x="5061994" y="2418076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上传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界面数据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4935369" y="4247376"/>
            <a:ext cx="13474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结果数据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解析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9" name="直接箭头连接符 128"/>
          <p:cNvCxnSpPr/>
          <p:nvPr/>
        </p:nvCxnSpPr>
        <p:spPr>
          <a:xfrm>
            <a:off x="8685656" y="3214039"/>
            <a:ext cx="648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/>
        </p:nvCxnSpPr>
        <p:spPr>
          <a:xfrm flipH="1">
            <a:off x="8685656" y="4053197"/>
            <a:ext cx="648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9555493" y="1956429"/>
            <a:ext cx="2520000" cy="3207600"/>
            <a:chOff x="9555493" y="1956429"/>
            <a:chExt cx="2520000" cy="3207600"/>
          </a:xfrm>
        </p:grpSpPr>
        <p:grpSp>
          <p:nvGrpSpPr>
            <p:cNvPr id="16" name="组合 15"/>
            <p:cNvGrpSpPr/>
            <p:nvPr/>
          </p:nvGrpSpPr>
          <p:grpSpPr>
            <a:xfrm>
              <a:off x="9555493" y="2083568"/>
              <a:ext cx="2520000" cy="3080461"/>
              <a:chOff x="9555493" y="2083568"/>
              <a:chExt cx="2520000" cy="3080461"/>
            </a:xfrm>
          </p:grpSpPr>
          <p:sp>
            <p:nvSpPr>
              <p:cNvPr id="144" name="圆角矩形 4"/>
              <p:cNvSpPr/>
              <p:nvPr/>
            </p:nvSpPr>
            <p:spPr>
              <a:xfrm>
                <a:off x="9555493" y="2083568"/>
                <a:ext cx="2520000" cy="3080461"/>
              </a:xfrm>
              <a:prstGeom prst="roundRect">
                <a:avLst>
                  <a:gd name="adj" fmla="val 9039"/>
                </a:avLst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  <a:prstDash val="lgDash"/>
              </a:ln>
              <a:effectLst>
                <a:innerShdw blurRad="127000" dist="63500" dir="13500000">
                  <a:schemeClr val="tx1">
                    <a:lumMod val="65000"/>
                    <a:lumOff val="35000"/>
                    <a:alpha val="49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5" name="圆角矩形 5"/>
              <p:cNvSpPr/>
              <p:nvPr/>
            </p:nvSpPr>
            <p:spPr>
              <a:xfrm>
                <a:off x="9681372" y="2299192"/>
                <a:ext cx="2268226" cy="2649200"/>
              </a:xfrm>
              <a:prstGeom prst="roundRect">
                <a:avLst>
                  <a:gd name="adj" fmla="val 9613"/>
                </a:avLst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/>
              <a:scene3d>
                <a:camera prst="orthographicFront"/>
                <a:lightRig rig="threePt" dir="t"/>
              </a:scene3d>
              <a:sp3d prstMaterial="softEdge">
                <a:bevelT w="0" h="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5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961941" y="1956429"/>
              <a:ext cx="1754827" cy="2775095"/>
              <a:chOff x="9961941" y="1956429"/>
              <a:chExt cx="1754827" cy="2775095"/>
            </a:xfrm>
          </p:grpSpPr>
          <p:sp>
            <p:nvSpPr>
              <p:cNvPr id="141" name="矩形: 圆角 140"/>
              <p:cNvSpPr/>
              <p:nvPr/>
            </p:nvSpPr>
            <p:spPr>
              <a:xfrm>
                <a:off x="9961941" y="1956429"/>
                <a:ext cx="1707091" cy="40862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接口调用模块</a:t>
                </a:r>
                <a:endPara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矩形 141"/>
              <p:cNvSpPr/>
              <p:nvPr/>
            </p:nvSpPr>
            <p:spPr>
              <a:xfrm>
                <a:off x="9974368" y="2672523"/>
                <a:ext cx="1742400" cy="2059001"/>
              </a:xfrm>
              <a:prstGeom prst="rect">
                <a:avLst/>
              </a:prstGeom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调用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讯飞开放平台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相关接口模块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47" name="矩形 146"/>
          <p:cNvSpPr/>
          <p:nvPr/>
        </p:nvSpPr>
        <p:spPr>
          <a:xfrm>
            <a:off x="8540981" y="2453911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根据指令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执行任务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8525012" y="4247376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获取结果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54" grpId="0"/>
      <p:bldP spid="60" grpId="0"/>
      <p:bldP spid="124" grpId="0"/>
      <p:bldP spid="128" grpId="0"/>
      <p:bldP spid="147" grpId="0"/>
      <p:bldP spid="1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625" y="621665"/>
            <a:ext cx="7098030" cy="4749800"/>
          </a:xfrm>
        </p:spPr>
        <p:txBody>
          <a:bodyPr/>
          <a:lstStyle/>
          <a:p>
            <a:pPr algn="just"/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智能语音聊天系统流程</a:t>
            </a:r>
            <a:r>
              <a:rPr lang="zh-CN" altLang="en-US" dirty="0">
                <a:sym typeface="+mn-ea"/>
              </a:rPr>
              <a:t>及框架</a:t>
            </a:r>
            <a:endParaRPr lang="en-US" altLang="zh-CN" dirty="0"/>
          </a:p>
          <a:p>
            <a:pPr lvl="1" algn="just"/>
            <a:r>
              <a:rPr lang="zh-CN" altLang="zh-CN" dirty="0"/>
              <a:t>为了直观可视化，采用</a:t>
            </a:r>
            <a:r>
              <a:rPr lang="zh-CN" altLang="zh-CN" dirty="0">
                <a:solidFill>
                  <a:srgbClr val="FF0000"/>
                </a:solidFill>
              </a:rPr>
              <a:t>页面展示</a:t>
            </a:r>
            <a:endParaRPr lang="en-US" altLang="zh-CN" dirty="0">
              <a:solidFill>
                <a:srgbClr val="FF0000"/>
              </a:solidFill>
            </a:endParaRPr>
          </a:p>
          <a:p>
            <a:pPr lvl="1" algn="just"/>
            <a:r>
              <a:rPr lang="zh-CN" altLang="zh-CN" dirty="0"/>
              <a:t>使用</a:t>
            </a:r>
            <a:r>
              <a:rPr lang="en-US" altLang="zh-CN" dirty="0"/>
              <a:t>flask </a:t>
            </a:r>
            <a:r>
              <a:rPr lang="zh-CN" altLang="zh-CN" dirty="0"/>
              <a:t>轻量级</a:t>
            </a:r>
            <a:r>
              <a:rPr lang="en-US" altLang="zh-CN" dirty="0"/>
              <a:t>web</a:t>
            </a:r>
            <a:r>
              <a:rPr lang="zh-CN" altLang="zh-CN" dirty="0"/>
              <a:t>框架进行页面可视化操作</a:t>
            </a:r>
            <a:endParaRPr lang="en-US" altLang="zh-CN" dirty="0"/>
          </a:p>
          <a:p>
            <a:pPr lvl="2" algn="just"/>
            <a:r>
              <a:rPr lang="en-US" altLang="zh-CN" dirty="0"/>
              <a:t>templates</a:t>
            </a:r>
            <a:r>
              <a:rPr lang="zh-CN" altLang="zh-CN" dirty="0"/>
              <a:t>为前端部分，用于存放</a:t>
            </a:r>
            <a:r>
              <a:rPr lang="en-US" altLang="zh-CN" dirty="0"/>
              <a:t>html</a:t>
            </a:r>
            <a:r>
              <a:rPr lang="zh-CN" altLang="zh-CN" dirty="0"/>
              <a:t>模板文件</a:t>
            </a:r>
            <a:endParaRPr lang="en-US" altLang="zh-CN" dirty="0"/>
          </a:p>
          <a:p>
            <a:pPr lvl="2" algn="just"/>
            <a:r>
              <a:rPr lang="en-US" altLang="zh-CN" dirty="0"/>
              <a:t>static</a:t>
            </a:r>
            <a:r>
              <a:rPr lang="zh-CN" altLang="zh-CN" dirty="0"/>
              <a:t>为前端部分，主要是一些图文资源和静态文件，用来渲染模板</a:t>
            </a:r>
            <a:endParaRPr lang="zh-CN" altLang="zh-CN" sz="1200" dirty="0"/>
          </a:p>
          <a:p>
            <a:pPr lvl="2" algn="just"/>
            <a:r>
              <a:rPr lang="en-US" altLang="zh-CN" dirty="0">
                <a:solidFill>
                  <a:srgbClr val="FF0000"/>
                </a:solidFill>
              </a:rPr>
              <a:t>app2.py</a:t>
            </a:r>
            <a:r>
              <a:rPr lang="zh-CN" altLang="zh-CN" dirty="0"/>
              <a:t>为后端代码部分</a:t>
            </a:r>
            <a:r>
              <a:rPr lang="zh-CN" altLang="en-US" dirty="0"/>
              <a:t>（重点）</a:t>
            </a:r>
            <a:r>
              <a:rPr lang="zh-CN" altLang="zh-CN" dirty="0"/>
              <a:t>，主要调用</a:t>
            </a:r>
            <a:r>
              <a:rPr lang="zh-CN" altLang="en-US" dirty="0">
                <a:solidFill>
                  <a:srgbClr val="FF0000"/>
                </a:solidFill>
              </a:rPr>
              <a:t>asr_iflytek.py、</a:t>
            </a:r>
            <a:r>
              <a:rPr lang="zh-CN" altLang="en-US" dirty="0">
                <a:solidFill>
                  <a:srgbClr val="FF0000"/>
                </a:solidFill>
              </a:rPr>
              <a:t>llm_spark.py、tts_service.py</a:t>
            </a:r>
            <a:r>
              <a:rPr lang="zh-CN" altLang="zh-CN" dirty="0"/>
              <a:t>中的</a:t>
            </a:r>
            <a:r>
              <a:rPr lang="zh-CN" altLang="en-US" dirty="0">
                <a:solidFill>
                  <a:srgbClr val="FF0000"/>
                </a:solidFill>
              </a:rPr>
              <a:t>语音听写、星火大模型、语音合成</a:t>
            </a:r>
            <a:r>
              <a:rPr lang="zh-CN" altLang="zh-CN" dirty="0">
                <a:solidFill>
                  <a:schemeClr val="tx1"/>
                </a:solidFill>
              </a:rPr>
              <a:t>接口调用模块</a:t>
            </a:r>
            <a:r>
              <a:rPr lang="zh-CN" altLang="zh-CN" dirty="0"/>
              <a:t>，用于</a:t>
            </a:r>
            <a:r>
              <a:rPr lang="zh-CN" altLang="en-US" dirty="0"/>
              <a:t>音频的语音听写</a:t>
            </a:r>
            <a:r>
              <a:rPr lang="zh-CN" altLang="zh-CN" dirty="0"/>
              <a:t>及返回结果的解析、</a:t>
            </a:r>
            <a:r>
              <a:rPr lang="zh-CN" altLang="en-US" dirty="0">
                <a:sym typeface="+mn-ea"/>
              </a:rPr>
              <a:t>星火大模型</a:t>
            </a:r>
            <a:r>
              <a:rPr lang="zh-CN" altLang="zh-CN" dirty="0">
                <a:sym typeface="+mn-ea"/>
              </a:rPr>
              <a:t>及返回结果的解析、以及语音合成及结果的</a:t>
            </a:r>
            <a:r>
              <a:rPr lang="zh-CN" altLang="zh-CN" dirty="0">
                <a:sym typeface="+mn-ea"/>
              </a:rPr>
              <a:t>解析。</a:t>
            </a:r>
            <a:endParaRPr lang="zh-CN" altLang="zh-CN" dirty="0"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智能语音聊天系统流程</a:t>
            </a:r>
            <a:r>
              <a:rPr lang="zh-CN" altLang="en-US" dirty="0">
                <a:sym typeface="+mn-ea"/>
              </a:rPr>
              <a:t>及框架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630" y="1917065"/>
            <a:ext cx="4876800" cy="31299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7433310" y="3716655"/>
            <a:ext cx="2225040" cy="36004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endParaRPr lang="en-US" altLang="zh-CN" dirty="0"/>
          </a:p>
          <a:p>
            <a:pPr lvl="1"/>
            <a:r>
              <a:rPr lang="zh-CN" altLang="zh-CN" dirty="0"/>
              <a:t>后端代码文件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app2.py</a:t>
            </a:r>
            <a:endParaRPr lang="en-US" altLang="zh-CN" dirty="0"/>
          </a:p>
          <a:p>
            <a:pPr lvl="2"/>
            <a:r>
              <a:rPr lang="zh-CN" altLang="zh-CN" dirty="0"/>
              <a:t>本实验的重点部分</a:t>
            </a:r>
            <a:endParaRPr lang="en-US" altLang="zh-CN" dirty="0"/>
          </a:p>
          <a:p>
            <a:pPr lvl="2"/>
            <a:r>
              <a:rPr lang="zh-CN" altLang="zh-CN" dirty="0">
                <a:solidFill>
                  <a:srgbClr val="FF0000"/>
                </a:solidFill>
              </a:rPr>
              <a:t>调用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zh-CN" altLang="en-US" dirty="0"/>
              <a:t>及</a:t>
            </a:r>
            <a:r>
              <a:rPr lang="zh-CN" altLang="zh-CN" dirty="0">
                <a:solidFill>
                  <a:srgbClr val="FF0000"/>
                </a:solidFill>
              </a:rPr>
              <a:t>返回结果解析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前端</a:t>
            </a:r>
            <a:r>
              <a:rPr lang="zh-CN" altLang="en-US" dirty="0"/>
              <a:t>页面</a:t>
            </a:r>
            <a:r>
              <a:rPr lang="zh-CN" altLang="zh-CN" dirty="0"/>
              <a:t>文件</a:t>
            </a:r>
            <a:r>
              <a:rPr lang="en-US" altLang="zh-CN" dirty="0">
                <a:solidFill>
                  <a:srgbClr val="FF0000"/>
                </a:solidFill>
              </a:rPr>
              <a:t>index.html</a:t>
            </a:r>
            <a:endParaRPr lang="en-US" altLang="zh-CN" dirty="0"/>
          </a:p>
          <a:p>
            <a:pPr lvl="2"/>
            <a:r>
              <a:rPr lang="zh-CN" altLang="zh-CN" dirty="0"/>
              <a:t>用于</a:t>
            </a:r>
            <a:r>
              <a:rPr lang="zh-CN" altLang="zh-CN" dirty="0">
                <a:solidFill>
                  <a:srgbClr val="FF0000"/>
                </a:solidFill>
              </a:rPr>
              <a:t>页面设计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zh-CN" dirty="0"/>
              <a:t>利用</a:t>
            </a:r>
            <a:r>
              <a:rPr lang="en-US" altLang="zh-CN" dirty="0"/>
              <a:t>jinjia2</a:t>
            </a:r>
            <a:r>
              <a:rPr lang="zh-CN" altLang="zh-CN" dirty="0"/>
              <a:t>模板引擎接收后端路由中返回的参数</a:t>
            </a:r>
            <a:endParaRPr lang="en-US" altLang="zh-CN" dirty="0"/>
          </a:p>
          <a:p>
            <a:pPr lvl="2"/>
            <a:r>
              <a:rPr lang="zh-CN" altLang="zh-CN" dirty="0"/>
              <a:t>前端部分</a:t>
            </a:r>
            <a:r>
              <a:rPr lang="zh-CN" altLang="zh-CN" dirty="0">
                <a:solidFill>
                  <a:srgbClr val="FF0000"/>
                </a:solidFill>
              </a:rPr>
              <a:t>不做要求</a:t>
            </a:r>
            <a:r>
              <a:rPr lang="zh-CN" altLang="zh-CN" dirty="0"/>
              <a:t>，感兴趣的可以去了解一下</a:t>
            </a:r>
            <a:endParaRPr lang="zh-CN" altLang="zh-CN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智能语音聊天系统流程</a:t>
            </a:r>
            <a:r>
              <a:rPr lang="zh-CN" altLang="en-US" dirty="0">
                <a:sym typeface="+mn-ea"/>
              </a:rPr>
              <a:t>及框架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§3 </a:t>
            </a:r>
            <a:r>
              <a:rPr lang="zh-CN" altLang="en-US" dirty="0">
                <a:cs typeface="Times New Roman" panose="02020603050405020304" pitchFamily="18" charset="0"/>
              </a:rPr>
              <a:t>智能语音聊天系统</a:t>
            </a:r>
            <a:r>
              <a:rPr lang="zh-CN" altLang="en-US" dirty="0">
                <a:cs typeface="Times New Roman" panose="02020603050405020304" pitchFamily="18" charset="0"/>
              </a:rPr>
              <a:t>实战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625" y="2853055"/>
            <a:ext cx="11047095" cy="3528695"/>
          </a:xfrm>
        </p:spPr>
        <p:txBody>
          <a:bodyPr/>
          <a:lstStyle/>
          <a:p>
            <a:r>
              <a:rPr lang="zh-CN" altLang="zh-CN" dirty="0"/>
              <a:t>导入</a:t>
            </a:r>
            <a:r>
              <a:rPr lang="zh-CN" altLang="en-US" dirty="0"/>
              <a:t>语音听写、星火大模型、语音合成</a:t>
            </a:r>
            <a:r>
              <a:rPr lang="zh-CN" altLang="zh-CN" dirty="0"/>
              <a:t>接口调用模块和库</a:t>
            </a:r>
            <a:endParaRPr lang="en-US" altLang="zh-CN" dirty="0"/>
          </a:p>
          <a:p>
            <a:r>
              <a:rPr lang="zh-CN" altLang="zh-CN" dirty="0"/>
              <a:t>给出讯飞开放平台</a:t>
            </a:r>
            <a:r>
              <a:rPr lang="zh-CN" altLang="en-US" dirty="0">
                <a:sym typeface="+mn-ea"/>
              </a:rPr>
              <a:t>语音听写、星火大模型、语音合成</a:t>
            </a:r>
            <a:r>
              <a:rPr lang="zh-CN" altLang="zh-CN" dirty="0"/>
              <a:t>接口相关信息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zh-CN" altLang="en-US" dirty="0">
                <a:sym typeface="+mn-ea"/>
              </a:rPr>
              <a:t>语音听写、星火大模型、语音合成</a:t>
            </a:r>
            <a:r>
              <a:rPr lang="zh-CN" altLang="en-US" dirty="0"/>
              <a:t>接口调用模块获取结果</a:t>
            </a:r>
            <a:endParaRPr lang="en-US" altLang="zh-CN" dirty="0"/>
          </a:p>
          <a:p>
            <a:r>
              <a:rPr lang="zh-CN" altLang="en-US" dirty="0"/>
              <a:t>前端页面文件说明</a:t>
            </a:r>
            <a:endParaRPr lang="en-US" altLang="zh-CN" dirty="0"/>
          </a:p>
          <a:p>
            <a:r>
              <a:rPr lang="zh-CN" altLang="en-US" dirty="0"/>
              <a:t>实战效果及评价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§3 </a:t>
            </a:r>
            <a:r>
              <a:rPr lang="zh-CN" altLang="en-US" dirty="0">
                <a:cs typeface="Times New Roman" panose="02020603050405020304" pitchFamily="18" charset="0"/>
              </a:rPr>
              <a:t>智能语音聊天系统</a:t>
            </a:r>
            <a:r>
              <a:rPr lang="zh-CN" altLang="en-US" dirty="0">
                <a:cs typeface="Times New Roman" panose="02020603050405020304" pitchFamily="18" charset="0"/>
              </a:rPr>
              <a:t>实战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625" y="2853055"/>
            <a:ext cx="11102340" cy="3528695"/>
          </a:xfrm>
        </p:spPr>
        <p:txBody>
          <a:bodyPr/>
          <a:lstStyle/>
          <a:p>
            <a:r>
              <a:rPr lang="zh-CN" altLang="zh-CN" dirty="0">
                <a:sym typeface="+mn-ea"/>
              </a:rPr>
              <a:t>导入</a:t>
            </a:r>
            <a:r>
              <a:rPr lang="zh-CN" altLang="en-US" dirty="0">
                <a:sym typeface="+mn-ea"/>
              </a:rPr>
              <a:t>语音听写、星火大模型、语音合成</a:t>
            </a:r>
            <a:r>
              <a:rPr lang="zh-CN" altLang="zh-CN" dirty="0">
                <a:sym typeface="+mn-ea"/>
              </a:rPr>
              <a:t>接口调用模块和库</a:t>
            </a:r>
            <a:endParaRPr lang="en-US" altLang="zh-CN" dirty="0"/>
          </a:p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给出讯飞开放平台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语音听写、星火大模型、语音合成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接口相关信息</a:t>
            </a:r>
            <a:endParaRPr lang="zh-CN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使用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语音听写、星火大模型、语音合成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接口调用模块获取结果</a:t>
            </a:r>
            <a:endParaRPr lang="zh-CN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前端页面文件说明</a:t>
            </a:r>
            <a:endParaRPr lang="zh-CN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  <a:sym typeface="+mn-ea"/>
              </a:rPr>
              <a:t>实战效果及评价</a:t>
            </a:r>
            <a:endParaRPr lang="zh-CN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4749716"/>
          </a:xfrm>
        </p:spPr>
        <p:txBody>
          <a:bodyPr/>
          <a:lstStyle/>
          <a:p>
            <a:r>
              <a:rPr lang="zh-CN" altLang="zh-CN" dirty="0"/>
              <a:t>导入</a:t>
            </a:r>
            <a:r>
              <a:rPr lang="zh-CN" altLang="en-US" dirty="0"/>
              <a:t>语音听写</a:t>
            </a:r>
            <a:r>
              <a:rPr lang="zh-CN" altLang="zh-CN" dirty="0"/>
              <a:t>接口调用模块和库</a:t>
            </a:r>
            <a:r>
              <a:rPr lang="zh-CN" altLang="en-US" dirty="0"/>
              <a:t>，代码如下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6582514" cy="652463"/>
          </a:xfrm>
        </p:spPr>
        <p:txBody>
          <a:bodyPr/>
          <a:lstStyle/>
          <a:p>
            <a:r>
              <a:rPr lang="zh-CN" altLang="en-US" dirty="0"/>
              <a:t>导入语音听写接口调用模块和库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1844675"/>
            <a:ext cx="6390005" cy="3975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25" y="2315845"/>
            <a:ext cx="6266815" cy="405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4749716"/>
          </a:xfrm>
        </p:spPr>
        <p:txBody>
          <a:bodyPr/>
          <a:lstStyle/>
          <a:p>
            <a:r>
              <a:rPr lang="zh-CN" altLang="zh-CN" dirty="0"/>
              <a:t>导入</a:t>
            </a:r>
            <a:r>
              <a:rPr lang="zh-CN" altLang="en-US" dirty="0"/>
              <a:t>语音听写</a:t>
            </a:r>
            <a:r>
              <a:rPr lang="zh-CN" altLang="zh-CN" dirty="0"/>
              <a:t>接口调用模块和库</a:t>
            </a:r>
            <a:r>
              <a:rPr lang="zh-CN" altLang="en-US" dirty="0"/>
              <a:t>，代码如下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6582514" cy="652463"/>
          </a:xfrm>
        </p:spPr>
        <p:txBody>
          <a:bodyPr/>
          <a:lstStyle/>
          <a:p>
            <a:r>
              <a:rPr lang="zh-CN" altLang="en-US" dirty="0"/>
              <a:t>导入星火</a:t>
            </a:r>
            <a:r>
              <a:rPr lang="zh-CN" altLang="en-US" dirty="0"/>
              <a:t>大模型接口调用模块和库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1844675"/>
            <a:ext cx="6390005" cy="3975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25" y="2315845"/>
            <a:ext cx="6266815" cy="405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4749716"/>
          </a:xfrm>
        </p:spPr>
        <p:txBody>
          <a:bodyPr/>
          <a:lstStyle/>
          <a:p>
            <a:r>
              <a:rPr lang="zh-CN" altLang="zh-CN" dirty="0"/>
              <a:t>导入</a:t>
            </a:r>
            <a:r>
              <a:rPr lang="zh-CN" altLang="en-US" dirty="0"/>
              <a:t>语音听写</a:t>
            </a:r>
            <a:r>
              <a:rPr lang="zh-CN" altLang="zh-CN" dirty="0"/>
              <a:t>接口调用模块和库</a:t>
            </a:r>
            <a:r>
              <a:rPr lang="zh-CN" altLang="en-US" dirty="0"/>
              <a:t>，代码如下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6582514" cy="652463"/>
          </a:xfrm>
        </p:spPr>
        <p:txBody>
          <a:bodyPr/>
          <a:lstStyle/>
          <a:p>
            <a:r>
              <a:rPr lang="zh-CN" altLang="en-US" dirty="0"/>
              <a:t>导入语音听写接口调用模块和库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1844675"/>
            <a:ext cx="6390005" cy="3975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25" y="2315845"/>
            <a:ext cx="6266815" cy="405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§3 </a:t>
            </a:r>
            <a:r>
              <a:rPr lang="zh-CN" altLang="en-US" dirty="0">
                <a:cs typeface="Times New Roman" panose="02020603050405020304" pitchFamily="18" charset="0"/>
              </a:rPr>
              <a:t>智能语音聊天系统</a:t>
            </a:r>
            <a:r>
              <a:rPr lang="zh-CN" altLang="en-US" dirty="0">
                <a:cs typeface="Times New Roman" panose="02020603050405020304" pitchFamily="18" charset="0"/>
              </a:rPr>
              <a:t>实战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9712354" cy="3528392"/>
          </a:xfrm>
        </p:spPr>
        <p:txBody>
          <a:bodyPr/>
          <a:lstStyle/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导入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语音听写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接口调用模块和库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zh-CN" dirty="0"/>
              <a:t>给出讯飞开放平台</a:t>
            </a:r>
            <a:r>
              <a:rPr lang="zh-CN" altLang="en-US" dirty="0"/>
              <a:t>语音听写</a:t>
            </a:r>
            <a:r>
              <a:rPr lang="zh-CN" altLang="zh-CN" dirty="0"/>
              <a:t>接口相关信息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使用语音听写接口调用模块获取结果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前端页面文件说明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实战效果及评价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4749716"/>
          </a:xfrm>
        </p:spPr>
        <p:txBody>
          <a:bodyPr/>
          <a:lstStyle/>
          <a:p>
            <a:r>
              <a:rPr lang="zh-CN" altLang="zh-CN" dirty="0"/>
              <a:t>给出讯飞开放平台</a:t>
            </a:r>
            <a:r>
              <a:rPr lang="zh-CN" altLang="en-US" dirty="0"/>
              <a:t>语音听写</a:t>
            </a:r>
            <a:r>
              <a:rPr lang="zh-CN" altLang="zh-CN" dirty="0"/>
              <a:t>接口相关信息</a:t>
            </a:r>
            <a:r>
              <a:rPr lang="zh-CN" altLang="en-US" dirty="0"/>
              <a:t>，代码如下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注意</a:t>
            </a:r>
            <a:r>
              <a:rPr lang="en-US" altLang="zh-CN" dirty="0" err="1"/>
              <a:t>APIKey</a:t>
            </a:r>
            <a:r>
              <a:rPr lang="zh-CN" altLang="en-US" dirty="0"/>
              <a:t>与</a:t>
            </a:r>
            <a:r>
              <a:rPr lang="en-US" altLang="zh-CN" dirty="0" err="1"/>
              <a:t>APISecret</a:t>
            </a:r>
            <a:r>
              <a:rPr lang="zh-CN" altLang="en-US" dirty="0"/>
              <a:t>不要写反</a:t>
            </a:r>
            <a:endParaRPr lang="en-US" altLang="zh-CN" dirty="0"/>
          </a:p>
          <a:p>
            <a:pPr lvl="1"/>
            <a:r>
              <a:rPr lang="en-US" altLang="zh-CN" dirty="0" err="1"/>
              <a:t>text_file</a:t>
            </a:r>
            <a:r>
              <a:rPr lang="en-US" altLang="zh-CN" dirty="0"/>
              <a:t> </a:t>
            </a:r>
            <a:r>
              <a:rPr lang="zh-CN" altLang="en-US" dirty="0"/>
              <a:t>用于保存语音听写后获取的文本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6582514" cy="652463"/>
          </a:xfrm>
        </p:spPr>
        <p:txBody>
          <a:bodyPr/>
          <a:lstStyle/>
          <a:p>
            <a:r>
              <a:rPr lang="zh-CN" altLang="zh-CN" sz="2400" dirty="0"/>
              <a:t>给出讯飞开放平台</a:t>
            </a:r>
            <a:r>
              <a:rPr lang="zh-CN" altLang="en-US" sz="2400" dirty="0"/>
              <a:t>语音听写</a:t>
            </a:r>
            <a:r>
              <a:rPr lang="zh-CN" altLang="zh-CN" sz="2400" dirty="0"/>
              <a:t>接口相关信息</a:t>
            </a:r>
            <a:br>
              <a:rPr lang="en-US" altLang="zh-CN" sz="2400" dirty="0"/>
            </a:b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15" y="1844824"/>
            <a:ext cx="9440373" cy="1986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§3 </a:t>
            </a:r>
            <a:r>
              <a:rPr lang="zh-CN" altLang="en-US" dirty="0">
                <a:cs typeface="Times New Roman" panose="02020603050405020304" pitchFamily="18" charset="0"/>
              </a:rPr>
              <a:t>智能语音聊天系统</a:t>
            </a:r>
            <a:r>
              <a:rPr lang="zh-CN" altLang="en-US" dirty="0">
                <a:cs typeface="Times New Roman" panose="02020603050405020304" pitchFamily="18" charset="0"/>
              </a:rPr>
              <a:t>实战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9712354" cy="3600400"/>
          </a:xfrm>
        </p:spPr>
        <p:txBody>
          <a:bodyPr/>
          <a:lstStyle/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导入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语音听写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接口调用模块和库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给出讯飞开放平台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语音听写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接口相关信息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/>
              <a:t>使用语音听写接口调用模块获取结果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前端页面文件说明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实战效果及评价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4749716"/>
          </a:xfrm>
        </p:spPr>
        <p:txBody>
          <a:bodyPr/>
          <a:lstStyle/>
          <a:p>
            <a:r>
              <a:rPr lang="zh-CN" altLang="en-US" dirty="0"/>
              <a:t>实现的效果如下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6582514" cy="652463"/>
          </a:xfrm>
        </p:spPr>
        <p:txBody>
          <a:bodyPr/>
          <a:lstStyle/>
          <a:p>
            <a:r>
              <a:rPr lang="zh-CN" altLang="en-US" sz="2400" dirty="0"/>
              <a:t>使用语音听写接口调用模块获取结果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053" y="1799691"/>
            <a:ext cx="8790583" cy="4562061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4749716"/>
          </a:xfrm>
        </p:spPr>
        <p:txBody>
          <a:bodyPr/>
          <a:lstStyle/>
          <a:p>
            <a:r>
              <a:rPr lang="zh-CN" altLang="en-US" dirty="0"/>
              <a:t>效果采用</a:t>
            </a:r>
            <a:r>
              <a:rPr lang="en-US" altLang="zh-CN" dirty="0"/>
              <a:t>flask web</a:t>
            </a:r>
            <a:r>
              <a:rPr lang="zh-CN" altLang="en-US" dirty="0"/>
              <a:t>框架实现步骤如下</a:t>
            </a:r>
            <a:endParaRPr lang="en-US" altLang="zh-CN" dirty="0"/>
          </a:p>
          <a:p>
            <a:pPr lvl="1"/>
            <a:r>
              <a:rPr lang="zh-CN" altLang="zh-CN" dirty="0"/>
              <a:t>创建程序实例</a:t>
            </a:r>
            <a:endParaRPr lang="en-US" altLang="zh-CN" dirty="0"/>
          </a:p>
          <a:p>
            <a:pPr lvl="1"/>
            <a:r>
              <a:rPr lang="zh-CN" altLang="zh-CN" dirty="0"/>
              <a:t>定义路由</a:t>
            </a:r>
            <a:r>
              <a:rPr lang="zh-CN" altLang="en-US" dirty="0"/>
              <a:t>、</a:t>
            </a:r>
            <a:r>
              <a:rPr lang="zh-CN" altLang="zh-CN" dirty="0"/>
              <a:t>链接</a:t>
            </a:r>
            <a:r>
              <a:rPr lang="en-US" altLang="zh-CN" dirty="0" err="1"/>
              <a:t>url</a:t>
            </a:r>
            <a:r>
              <a:rPr lang="zh-CN" altLang="zh-CN" dirty="0"/>
              <a:t>和接收方法</a:t>
            </a:r>
            <a:endParaRPr lang="en-US" altLang="zh-CN" dirty="0"/>
          </a:p>
          <a:p>
            <a:pPr lvl="1"/>
            <a:r>
              <a:rPr lang="zh-CN" altLang="zh-CN" dirty="0"/>
              <a:t>定义与路由相对应的视图函数</a:t>
            </a:r>
            <a:endParaRPr lang="en-US" altLang="zh-CN" dirty="0"/>
          </a:p>
          <a:p>
            <a:pPr lvl="2"/>
            <a:r>
              <a:rPr lang="zh-CN" altLang="en-US" dirty="0"/>
              <a:t>调用语音听写接口模块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6582514" cy="652463"/>
          </a:xfrm>
        </p:spPr>
        <p:txBody>
          <a:bodyPr/>
          <a:lstStyle/>
          <a:p>
            <a:r>
              <a:rPr lang="zh-CN" altLang="en-US" sz="2400" dirty="0"/>
              <a:t>使用语音听写接口调用模块获取结果</a:t>
            </a:r>
            <a:endParaRPr lang="en-US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5663158" y="1842691"/>
            <a:ext cx="6092825" cy="309232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171450" lvl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app = Flask(__name__)  # 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创建程序实例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71450" lvl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@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app.route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url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 methods= ' ')  # 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路由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71450" lvl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def 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view_func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():  #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视图函数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71450" lvl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语音听写接口调用模块调用处理部分</a:t>
            </a:r>
            <a:endParaRPr lang="zh-CN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71450" lvl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return template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模板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652463"/>
          </a:xfrm>
        </p:spPr>
        <p:txBody>
          <a:bodyPr/>
          <a:lstStyle/>
          <a:p>
            <a:r>
              <a:rPr lang="zh-CN" altLang="en-US" dirty="0"/>
              <a:t>语音听写</a:t>
            </a:r>
            <a:r>
              <a:rPr lang="zh-CN" altLang="zh-CN" dirty="0"/>
              <a:t>接口调用模块调用处理的流程（与效果图对应）如下：</a:t>
            </a:r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prstClr val="white"/>
                </a:solidFill>
              </a:rPr>
              <a:t>使用语音听写接口调用模块获取结果</a:t>
            </a:r>
            <a:endParaRPr lang="en-US" altLang="zh-CN" dirty="0"/>
          </a:p>
        </p:txBody>
      </p:sp>
      <p:grpSp>
        <p:nvGrpSpPr>
          <p:cNvPr id="6" name="组合 5"/>
          <p:cNvGrpSpPr/>
          <p:nvPr/>
        </p:nvGrpSpPr>
        <p:grpSpPr>
          <a:xfrm>
            <a:off x="684406" y="1916832"/>
            <a:ext cx="9795866" cy="4263521"/>
            <a:chOff x="684406" y="1916832"/>
            <a:chExt cx="9795866" cy="4263521"/>
          </a:xfrm>
        </p:grpSpPr>
        <p:grpSp>
          <p:nvGrpSpPr>
            <p:cNvPr id="12" name="组合 11"/>
            <p:cNvGrpSpPr/>
            <p:nvPr/>
          </p:nvGrpSpPr>
          <p:grpSpPr>
            <a:xfrm>
              <a:off x="684406" y="1916832"/>
              <a:ext cx="9795866" cy="4263521"/>
              <a:chOff x="684406" y="1916832"/>
              <a:chExt cx="9795866" cy="426352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684406" y="1916832"/>
                <a:ext cx="9795866" cy="3194644"/>
                <a:chOff x="559933" y="1386191"/>
                <a:chExt cx="10515763" cy="3398259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559933" y="1844824"/>
                  <a:ext cx="10515763" cy="2939626"/>
                  <a:chOff x="1774726" y="1196752"/>
                  <a:chExt cx="8640960" cy="2666149"/>
                </a:xfrm>
              </p:grpSpPr>
              <p:graphicFrame>
                <p:nvGraphicFramePr>
                  <p:cNvPr id="19" name="图示 18"/>
                  <p:cNvGraphicFramePr/>
                  <p:nvPr/>
                </p:nvGraphicFramePr>
                <p:xfrm>
                  <a:off x="1774726" y="1196752"/>
                  <a:ext cx="8640960" cy="1944216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1" r:lo="rId2" r:qs="rId3" r:cs="rId4"/>
                  </a:graphicData>
                </a:graphic>
              </p:graphicFrame>
              <p:sp>
                <p:nvSpPr>
                  <p:cNvPr id="23" name="箭头: 上下 22"/>
                  <p:cNvSpPr/>
                  <p:nvPr/>
                </p:nvSpPr>
                <p:spPr>
                  <a:xfrm>
                    <a:off x="3201356" y="3142820"/>
                    <a:ext cx="504056" cy="720081"/>
                  </a:xfrm>
                  <a:prstGeom prst="upDownArrow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" name="箭头: 上下 23"/>
                  <p:cNvSpPr/>
                  <p:nvPr/>
                </p:nvSpPr>
                <p:spPr>
                  <a:xfrm>
                    <a:off x="5901168" y="2982558"/>
                    <a:ext cx="504056" cy="720081"/>
                  </a:xfrm>
                  <a:prstGeom prst="upDownArrow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箭头: 上下 24"/>
                  <p:cNvSpPr/>
                  <p:nvPr/>
                </p:nvSpPr>
                <p:spPr>
                  <a:xfrm>
                    <a:off x="8471341" y="3117455"/>
                    <a:ext cx="504056" cy="720081"/>
                  </a:xfrm>
                  <a:prstGeom prst="upDownArrow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5" name="矩形: 圆角 14"/>
                <p:cNvSpPr/>
                <p:nvPr/>
              </p:nvSpPr>
              <p:spPr>
                <a:xfrm>
                  <a:off x="1830589" y="1386191"/>
                  <a:ext cx="1395208" cy="460440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spcFirstLastPara="0" vert="horz" wrap="square" lIns="153715" tIns="153715" rIns="153715" bIns="153715" numCol="1" spcCol="1270" anchor="ctr" anchorCtr="0">
                  <a:noAutofit/>
                </a:bodyPr>
                <a:lstStyle/>
                <a:p>
                  <a:pPr marL="0" lvl="0" indent="0" algn="ctr" defTabSz="1511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zh-CN" altLang="en-US" sz="2400" kern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步骤</a:t>
                  </a:r>
                  <a:r>
                    <a:rPr lang="en-US" altLang="zh-CN" sz="2400" kern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4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" name="矩形: 圆角 15"/>
                <p:cNvSpPr/>
                <p:nvPr/>
              </p:nvSpPr>
              <p:spPr>
                <a:xfrm>
                  <a:off x="4999099" y="1386192"/>
                  <a:ext cx="1395208" cy="460440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spcFirstLastPara="0" vert="horz" wrap="square" lIns="153715" tIns="153715" rIns="153715" bIns="153715" numCol="1" spcCol="1270" anchor="ctr" anchorCtr="0">
                  <a:noAutofit/>
                </a:bodyPr>
                <a:lstStyle/>
                <a:p>
                  <a:pPr marL="0" lvl="0" indent="0" algn="ctr" defTabSz="1511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zh-CN" altLang="en-US" sz="2400" kern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步骤</a:t>
                  </a:r>
                  <a:r>
                    <a:rPr lang="en-US" altLang="zh-CN" sz="2400" kern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  <a:endParaRPr lang="zh-CN" altLang="en-US" sz="24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矩形: 圆角 16"/>
                <p:cNvSpPr/>
                <p:nvPr/>
              </p:nvSpPr>
              <p:spPr>
                <a:xfrm>
                  <a:off x="8300869" y="1386192"/>
                  <a:ext cx="1395208" cy="460440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spcFirstLastPara="0" vert="horz" wrap="square" lIns="153715" tIns="153715" rIns="153715" bIns="153715" numCol="1" spcCol="1270" anchor="ctr" anchorCtr="0">
                  <a:noAutofit/>
                </a:bodyPr>
                <a:lstStyle/>
                <a:p>
                  <a:pPr marL="0" lvl="0" indent="0" algn="ctr" defTabSz="1511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zh-CN" altLang="en-US" sz="2400" kern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步骤</a:t>
                  </a:r>
                  <a:r>
                    <a:rPr lang="en-US" altLang="zh-CN" sz="2400" kern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  <a:endParaRPr lang="zh-CN" altLang="en-US" sz="24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50374" y="5018094"/>
                <a:ext cx="1657350" cy="609600"/>
              </a:xfrm>
              <a:prstGeom prst="rect">
                <a:avLst/>
              </a:prstGeom>
              <a:ln>
                <a:solidFill>
                  <a:srgbClr val="92D050"/>
                </a:solidFill>
              </a:ln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31588" y="5111476"/>
                <a:ext cx="2287975" cy="1068877"/>
              </a:xfrm>
              <a:prstGeom prst="rect">
                <a:avLst/>
              </a:prstGeom>
              <a:ln>
                <a:solidFill>
                  <a:srgbClr val="4BACC6"/>
                </a:solidFill>
              </a:ln>
            </p:spPr>
          </p:pic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96974" y="5111476"/>
              <a:ext cx="2952328" cy="1017469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8822" y="1060759"/>
            <a:ext cx="9134659" cy="4656361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7991" y="1013994"/>
            <a:ext cx="10971213" cy="652463"/>
          </a:xfrm>
        </p:spPr>
        <p:txBody>
          <a:bodyPr/>
          <a:lstStyle/>
          <a:p>
            <a:r>
              <a:rPr lang="zh-CN" altLang="en-US" dirty="0"/>
              <a:t>代码如下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6582514" cy="652463"/>
          </a:xfrm>
        </p:spPr>
        <p:txBody>
          <a:bodyPr/>
          <a:lstStyle/>
          <a:p>
            <a:r>
              <a:rPr lang="zh-CN" altLang="en-US" sz="2400" dirty="0"/>
              <a:t>使用语音听写接口调用模块获取结果</a:t>
            </a:r>
            <a:endParaRPr lang="en-US" altLang="zh-CN" sz="2400" dirty="0"/>
          </a:p>
        </p:txBody>
      </p:sp>
      <p:sp>
        <p:nvSpPr>
          <p:cNvPr id="9" name="矩形 8"/>
          <p:cNvSpPr/>
          <p:nvPr/>
        </p:nvSpPr>
        <p:spPr>
          <a:xfrm>
            <a:off x="550590" y="5803328"/>
            <a:ext cx="5780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这个‘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home.html</a:t>
            </a:r>
            <a:r>
              <a:rPr lang="zh-CN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’文件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是啥呢？</a:t>
            </a:r>
            <a:endParaRPr lang="zh-CN" altLang="en-US" dirty="0"/>
          </a:p>
        </p:txBody>
      </p:sp>
      <p:sp>
        <p:nvSpPr>
          <p:cNvPr id="8" name="矩形: 圆角 7"/>
          <p:cNvSpPr/>
          <p:nvPr/>
        </p:nvSpPr>
        <p:spPr>
          <a:xfrm>
            <a:off x="5015086" y="5371316"/>
            <a:ext cx="1037897" cy="435884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3430910" y="5735192"/>
            <a:ext cx="1584176" cy="21408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/>
      <p:bldP spid="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§3 </a:t>
            </a:r>
            <a:r>
              <a:rPr lang="zh-CN" altLang="en-US" dirty="0">
                <a:cs typeface="Times New Roman" panose="02020603050405020304" pitchFamily="18" charset="0"/>
              </a:rPr>
              <a:t>智能语音聊天系统</a:t>
            </a:r>
            <a:r>
              <a:rPr lang="zh-CN" altLang="en-US" dirty="0">
                <a:cs typeface="Times New Roman" panose="02020603050405020304" pitchFamily="18" charset="0"/>
              </a:rPr>
              <a:t>实战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9712354" cy="3600400"/>
          </a:xfrm>
        </p:spPr>
        <p:txBody>
          <a:bodyPr/>
          <a:lstStyle/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导入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语音听写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接口调用模块和库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给出讯飞开放平台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语音听写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接口相关信息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使用语音听写接口调用模块获取结果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/>
              <a:t>前端页面文件说明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实战效果及评价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‘</a:t>
            </a:r>
            <a:r>
              <a:rPr lang="en-US" altLang="zh-CN" dirty="0"/>
              <a:t>home.html</a:t>
            </a:r>
            <a:r>
              <a:rPr lang="zh-CN" altLang="zh-CN" dirty="0"/>
              <a:t>’文件</a:t>
            </a:r>
            <a:r>
              <a:rPr lang="zh-CN" altLang="en-US" dirty="0"/>
              <a:t>说明</a:t>
            </a:r>
            <a:endParaRPr lang="en-US" altLang="zh-CN" dirty="0"/>
          </a:p>
          <a:p>
            <a:pPr lvl="1"/>
            <a:r>
              <a:rPr lang="zh-CN" altLang="zh-CN" dirty="0"/>
              <a:t>前端代码</a:t>
            </a:r>
            <a:r>
              <a:rPr lang="zh-CN" altLang="en-US" dirty="0"/>
              <a:t>文件，</a:t>
            </a:r>
            <a:r>
              <a:rPr lang="zh-CN" altLang="zh-CN" dirty="0"/>
              <a:t>用于可视化</a:t>
            </a:r>
            <a:r>
              <a:rPr lang="zh-CN" altLang="en-US" dirty="0"/>
              <a:t>语音听写</a:t>
            </a:r>
            <a:r>
              <a:rPr lang="zh-CN" altLang="zh-CN" dirty="0"/>
              <a:t>过程</a:t>
            </a:r>
            <a:endParaRPr lang="en-US" altLang="zh-CN" dirty="0"/>
          </a:p>
          <a:p>
            <a:pPr lvl="1"/>
            <a:r>
              <a:rPr lang="zh-CN" altLang="zh-CN" dirty="0"/>
              <a:t>包括</a:t>
            </a:r>
            <a:r>
              <a:rPr lang="zh-CN" altLang="en-US" dirty="0"/>
              <a:t>音频文件上传</a:t>
            </a:r>
            <a:r>
              <a:rPr lang="zh-CN" altLang="zh-CN" dirty="0"/>
              <a:t>操作，解析后的结果输出展示</a:t>
            </a:r>
            <a:endParaRPr lang="en-US" altLang="zh-CN" dirty="0"/>
          </a:p>
          <a:p>
            <a:pPr lvl="1"/>
            <a:r>
              <a:rPr lang="zh-CN" altLang="zh-CN" dirty="0"/>
              <a:t>前端代码不是实验的重点部分</a:t>
            </a:r>
            <a:endParaRPr lang="en-US" altLang="zh-CN" dirty="0"/>
          </a:p>
          <a:p>
            <a:pPr lvl="1"/>
            <a:r>
              <a:rPr lang="zh-CN" altLang="zh-CN" dirty="0"/>
              <a:t>对‘</a:t>
            </a:r>
            <a:r>
              <a:rPr lang="en-US" altLang="zh-CN" dirty="0"/>
              <a:t>home.html</a:t>
            </a:r>
            <a:r>
              <a:rPr lang="zh-CN" altLang="zh-CN" dirty="0"/>
              <a:t>’文件代码不做具体介绍</a:t>
            </a:r>
            <a:endParaRPr lang="en-US" altLang="zh-CN" dirty="0"/>
          </a:p>
          <a:p>
            <a:pPr lvl="1"/>
            <a:r>
              <a:rPr lang="zh-CN" altLang="zh-CN" dirty="0"/>
              <a:t>可参看</a:t>
            </a:r>
            <a:r>
              <a:rPr lang="en-US" altLang="zh-CN" dirty="0"/>
              <a:t>templates</a:t>
            </a:r>
            <a:r>
              <a:rPr lang="zh-CN" altLang="zh-CN" dirty="0"/>
              <a:t>文件夹下的‘</a:t>
            </a:r>
            <a:r>
              <a:rPr lang="en-US" altLang="zh-CN" dirty="0"/>
              <a:t>home.html</a:t>
            </a:r>
            <a:r>
              <a:rPr lang="zh-CN" altLang="zh-CN" dirty="0"/>
              <a:t>’文件 </a:t>
            </a:r>
            <a:endParaRPr lang="zh-CN" altLang="zh-CN" dirty="0"/>
          </a:p>
          <a:p>
            <a:r>
              <a:rPr lang="zh-CN" altLang="en-US" dirty="0"/>
              <a:t>示例如下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26654" y="256257"/>
            <a:ext cx="6222474" cy="652463"/>
          </a:xfrm>
        </p:spPr>
        <p:txBody>
          <a:bodyPr/>
          <a:lstStyle/>
          <a:p>
            <a:r>
              <a:rPr lang="zh-CN" altLang="en-US" dirty="0"/>
              <a:t>前端页面文件说明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3158" y="1094290"/>
            <a:ext cx="5438775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599" y="1054142"/>
            <a:ext cx="10971213" cy="4749716"/>
          </a:xfrm>
        </p:spPr>
        <p:txBody>
          <a:bodyPr/>
          <a:lstStyle/>
          <a:p>
            <a:r>
              <a:rPr lang="zh-CN" altLang="en-US" dirty="0"/>
              <a:t>音频文件上传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解析后的结果输出展示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40884" y="256257"/>
            <a:ext cx="5906913" cy="652463"/>
          </a:xfrm>
        </p:spPr>
        <p:txBody>
          <a:bodyPr/>
          <a:lstStyle/>
          <a:p>
            <a:r>
              <a:rPr lang="zh-CN" altLang="en-US" dirty="0"/>
              <a:t>前端页面文件说明</a:t>
            </a:r>
            <a:endParaRPr lang="zh-CN" altLang="en-US" dirty="0"/>
          </a:p>
        </p:txBody>
      </p:sp>
      <p:sp>
        <p:nvSpPr>
          <p:cNvPr id="6" name="箭头: 右 5"/>
          <p:cNvSpPr/>
          <p:nvPr/>
        </p:nvSpPr>
        <p:spPr>
          <a:xfrm>
            <a:off x="3286894" y="1628800"/>
            <a:ext cx="1512168" cy="576064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/>
          <p:cNvSpPr/>
          <p:nvPr/>
        </p:nvSpPr>
        <p:spPr>
          <a:xfrm>
            <a:off x="3323356" y="4646984"/>
            <a:ext cx="1512168" cy="576064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0442" y="1022791"/>
            <a:ext cx="7181428" cy="2345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078" y="3549255"/>
            <a:ext cx="4000500" cy="2619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bldLvl="0" animBg="1"/>
      <p:bldP spid="7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§3 </a:t>
            </a:r>
            <a:r>
              <a:rPr lang="zh-CN" altLang="en-US" dirty="0">
                <a:cs typeface="Times New Roman" panose="02020603050405020304" pitchFamily="18" charset="0"/>
              </a:rPr>
              <a:t>智能语音聊天系统</a:t>
            </a:r>
            <a:r>
              <a:rPr lang="zh-CN" altLang="en-US" dirty="0">
                <a:cs typeface="Times New Roman" panose="02020603050405020304" pitchFamily="18" charset="0"/>
              </a:rPr>
              <a:t>实战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6"/>
          </p:nvPr>
        </p:nvSpPr>
        <p:spPr>
          <a:xfrm>
            <a:off x="1063372" y="2852936"/>
            <a:ext cx="9712354" cy="3528392"/>
          </a:xfrm>
        </p:spPr>
        <p:txBody>
          <a:bodyPr/>
          <a:lstStyle/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导入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语音听写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接口调用模块和库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给出讯飞开放平台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语音听写</a:t>
            </a:r>
            <a:r>
              <a:rPr lang="zh-CN" altLang="zh-CN" dirty="0">
                <a:solidFill>
                  <a:schemeClr val="bg1">
                    <a:lumMod val="85000"/>
                  </a:schemeClr>
                </a:solidFill>
              </a:rPr>
              <a:t>接口相关信息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使用语音听写接口调用模块获取结果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前端页面文件说明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/>
              <a:t>实战效果及评价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启动服务的代码如下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运行命令</a:t>
            </a:r>
            <a:endParaRPr lang="en-US" altLang="zh-CN" dirty="0"/>
          </a:p>
          <a:p>
            <a:pPr lvl="1"/>
            <a:r>
              <a:rPr lang="en-US" altLang="zh-CN" dirty="0" err="1"/>
              <a:t>AILab</a:t>
            </a:r>
            <a:r>
              <a:rPr lang="zh-CN" altLang="zh-CN" dirty="0"/>
              <a:t>平台</a:t>
            </a:r>
            <a:r>
              <a:rPr lang="zh-CN" altLang="en-US" dirty="0"/>
              <a:t>：终端</a:t>
            </a:r>
            <a:r>
              <a:rPr lang="zh-CN" altLang="zh-CN" dirty="0"/>
              <a:t>输入</a:t>
            </a:r>
            <a:r>
              <a:rPr lang="zh-CN" altLang="en-US" dirty="0"/>
              <a:t>主要</a:t>
            </a:r>
            <a:r>
              <a:rPr lang="zh-CN" altLang="zh-CN" dirty="0"/>
              <a:t>命令</a:t>
            </a:r>
            <a:r>
              <a:rPr lang="zh-CN" altLang="en-US" dirty="0"/>
              <a:t>有</a:t>
            </a:r>
            <a:r>
              <a:rPr lang="zh-CN" altLang="zh-CN" dirty="0"/>
              <a:t>：</a:t>
            </a:r>
            <a:r>
              <a:rPr lang="en-US" altLang="zh-CN" dirty="0"/>
              <a:t>python3 speech_to_text_realtime_app.py</a:t>
            </a:r>
            <a:endParaRPr lang="en-US" altLang="zh-CN" dirty="0"/>
          </a:p>
          <a:p>
            <a:pPr lvl="1"/>
            <a:r>
              <a:rPr lang="zh-CN" altLang="zh-CN" dirty="0"/>
              <a:t>本地环境</a:t>
            </a:r>
            <a:r>
              <a:rPr lang="zh-CN" altLang="en-US" dirty="0"/>
              <a:t>：</a:t>
            </a:r>
            <a:r>
              <a:rPr lang="zh-CN" altLang="zh-CN" dirty="0"/>
              <a:t>右键点击</a:t>
            </a:r>
            <a:r>
              <a:rPr lang="zh-CN" altLang="en-US" dirty="0"/>
              <a:t>‘</a:t>
            </a:r>
            <a:r>
              <a:rPr lang="en-US" altLang="zh-CN" dirty="0"/>
              <a:t>Run </a:t>
            </a:r>
            <a:r>
              <a:rPr lang="en-US" altLang="zh-CN" dirty="0" err="1"/>
              <a:t>speech_to_text_realtime_app</a:t>
            </a:r>
            <a:r>
              <a:rPr lang="zh-CN" altLang="en-US" dirty="0"/>
              <a:t>’</a:t>
            </a:r>
            <a:endParaRPr lang="en-US" altLang="zh-CN" dirty="0"/>
          </a:p>
          <a:p>
            <a:pPr lvl="1"/>
            <a:r>
              <a:rPr lang="zh-CN" altLang="en-US" dirty="0"/>
              <a:t>出现：</a:t>
            </a:r>
            <a:endParaRPr lang="en-US" altLang="zh-CN" dirty="0"/>
          </a:p>
          <a:p>
            <a:r>
              <a:rPr lang="en-US" altLang="zh-CN" u="sng" dirty="0">
                <a:hlinkClick r:id="rId1"/>
              </a:rPr>
              <a:t>http://127.0.0.1:5000/</a:t>
            </a:r>
            <a:r>
              <a:rPr lang="en-US" altLang="zh-CN" u="sng" dirty="0"/>
              <a:t> </a:t>
            </a:r>
            <a:r>
              <a:rPr lang="zh-CN" altLang="en-US" dirty="0"/>
              <a:t>：</a:t>
            </a:r>
            <a:r>
              <a:rPr lang="en-US" altLang="zh-CN" u="sng" dirty="0">
                <a:hlinkClick r:id="rId1"/>
              </a:rPr>
              <a:t>127.0.0.1</a:t>
            </a:r>
            <a:r>
              <a:rPr lang="zh-CN" altLang="en-US" dirty="0"/>
              <a:t> 为本地</a:t>
            </a:r>
            <a:r>
              <a:rPr lang="en-US" altLang="zh-CN" dirty="0"/>
              <a:t>host</a:t>
            </a:r>
            <a:r>
              <a:rPr lang="zh-CN" altLang="en-US" dirty="0"/>
              <a:t>，</a:t>
            </a:r>
            <a:r>
              <a:rPr lang="en-US" altLang="zh-CN" dirty="0"/>
              <a:t>5000</a:t>
            </a:r>
            <a:r>
              <a:rPr lang="zh-CN" altLang="en-US" dirty="0"/>
              <a:t>为端口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实战效果及评价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4367014" y="1890273"/>
            <a:ext cx="6486757" cy="773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t="41498"/>
          <a:stretch>
            <a:fillRect/>
          </a:stretch>
        </p:blipFill>
        <p:spPr>
          <a:xfrm>
            <a:off x="2742406" y="4581129"/>
            <a:ext cx="6705600" cy="462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点击或复制 </a:t>
            </a:r>
            <a:r>
              <a:rPr lang="en-US" altLang="zh-CN" u="sng" dirty="0">
                <a:hlinkClick r:id="rId1"/>
              </a:rPr>
              <a:t>http://127.0.0.1:5000/</a:t>
            </a:r>
            <a:r>
              <a:rPr lang="zh-CN" altLang="en-US" dirty="0"/>
              <a:t>到浏览器页面地址中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实战效果及评价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53" y="1799691"/>
            <a:ext cx="8790583" cy="4562061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效果演示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实战效果及评价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8" y="1772816"/>
            <a:ext cx="9270826" cy="4328986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结果评价</a:t>
            </a:r>
            <a:endParaRPr lang="en-US" altLang="zh-CN" dirty="0"/>
          </a:p>
          <a:p>
            <a:pPr lvl="1"/>
            <a:r>
              <a:rPr lang="zh-CN" altLang="en-US" dirty="0"/>
              <a:t>语音听写</a:t>
            </a:r>
            <a:r>
              <a:rPr lang="zh-CN" altLang="zh-CN" dirty="0"/>
              <a:t>方法能够较好的</a:t>
            </a:r>
            <a:r>
              <a:rPr lang="zh-CN" altLang="en-US" dirty="0"/>
              <a:t>将音频转化为文字输出</a:t>
            </a:r>
            <a:endParaRPr lang="en-US" altLang="zh-CN" dirty="0"/>
          </a:p>
          <a:p>
            <a:pPr lvl="1"/>
            <a:r>
              <a:rPr lang="zh-CN" altLang="en-US" dirty="0"/>
              <a:t>讯飞开放平台中的语音听写有较多如下高级功能，可通过设置进行尝试</a:t>
            </a:r>
            <a:endParaRPr lang="en-US" altLang="zh-CN" dirty="0"/>
          </a:p>
          <a:p>
            <a:pPr lvl="1"/>
            <a:endParaRPr lang="en-US" altLang="zh-CN" sz="1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实战效果及评价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574" y="2996952"/>
            <a:ext cx="4886325" cy="3152775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58" y="2841116"/>
            <a:ext cx="4895850" cy="3464446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1702718" y="3068960"/>
            <a:ext cx="8230738" cy="545561"/>
          </a:xfrm>
        </p:spPr>
        <p:txBody>
          <a:bodyPr/>
          <a:lstStyle/>
          <a:p>
            <a:r>
              <a:rPr lang="zh-CN" altLang="en-US" sz="2400" b="1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赶快去讯飞开放平台试试手吧</a:t>
            </a:r>
            <a:endParaRPr lang="zh-CN" altLang="en-US" sz="2400" b="1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2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3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4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5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6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7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8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9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10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11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12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13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14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15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ags/tag16.xml><?xml version="1.0" encoding="utf-8"?>
<p:tagLst xmlns:p="http://schemas.openxmlformats.org/presentationml/2006/main">
  <p:tag name="KSO_WM_DIAGRAM_VIRTUALLY_FRAME" val="{&quot;height&quot;:218.88275590551189,&quot;left&quot;:66.0332283464567,&quot;top&quot;:204.2051181102362,&quot;width&quot;:371.7188188976378}"/>
</p:tagLst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烟灰色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3956</Words>
  <Application>WPS 演示</Application>
  <PresentationFormat>自定义</PresentationFormat>
  <Paragraphs>428</Paragraphs>
  <Slides>49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8" baseType="lpstr">
      <vt:lpstr>Arial</vt:lpstr>
      <vt:lpstr>宋体</vt:lpstr>
      <vt:lpstr>Wingdings</vt:lpstr>
      <vt:lpstr>Calibri</vt:lpstr>
      <vt:lpstr>微软雅黑</vt:lpstr>
      <vt:lpstr>Times New Roman</vt:lpstr>
      <vt:lpstr>Consolas</vt:lpstr>
      <vt:lpstr>Arial Unicode MS</vt:lpstr>
      <vt:lpstr>1</vt:lpstr>
      <vt:lpstr>基于讯飞开放平台的 智能医疗人脸识别系统-实验</vt:lpstr>
      <vt:lpstr>本节要点</vt:lpstr>
      <vt:lpstr>PowerPoint 演示文稿</vt:lpstr>
      <vt:lpstr>§1 讯飞开放平台API使用方法  </vt:lpstr>
      <vt:lpstr>§1 讯飞开放平台API使用方法  </vt:lpstr>
      <vt:lpstr>语音听写API接口信息及文档</vt:lpstr>
      <vt:lpstr>语音听写API接口信息及文档 </vt:lpstr>
      <vt:lpstr>语音听写API接口信息及文档 </vt:lpstr>
      <vt:lpstr>讯飞星火大模型 API接口信息及文档</vt:lpstr>
      <vt:lpstr>讯飞星火大模型 API接口信息及文档 </vt:lpstr>
      <vt:lpstr>讯飞星火大模型 API接口信息及文档 </vt:lpstr>
      <vt:lpstr>语音合成API接口信息及文档</vt:lpstr>
      <vt:lpstr>语音合成API接口信息及文档</vt:lpstr>
      <vt:lpstr>语音合成API接口信息及文档 </vt:lpstr>
      <vt:lpstr>§1 讯飞开放平台API使用方法  </vt:lpstr>
      <vt:lpstr>语音听写接口说明</vt:lpstr>
      <vt:lpstr>语音听写接口说明</vt:lpstr>
      <vt:lpstr>星火大模型接口说明</vt:lpstr>
      <vt:lpstr>星火大模型接口说明</vt:lpstr>
      <vt:lpstr>语音合成接口说明</vt:lpstr>
      <vt:lpstr>语音合成接口说明</vt:lpstr>
      <vt:lpstr>§2 智能语音聊天系统流程</vt:lpstr>
      <vt:lpstr>智能语音聊天系统流程及框架</vt:lpstr>
      <vt:lpstr>智能语音聊天系统流程及框架</vt:lpstr>
      <vt:lpstr>智能语音聊天系统流程及框架</vt:lpstr>
      <vt:lpstr>智能语音聊天系统流程及框架</vt:lpstr>
      <vt:lpstr>智能语音聊天系统流程及框架</vt:lpstr>
      <vt:lpstr>智能语音聊天系统流程及框架</vt:lpstr>
      <vt:lpstr>§3 智能语音聊天系统实战</vt:lpstr>
      <vt:lpstr>§3 智能语音聊天系统实战</vt:lpstr>
      <vt:lpstr>导入语音听写接口调用模块和库</vt:lpstr>
      <vt:lpstr>导入星火大模型接口调用模块和库</vt:lpstr>
      <vt:lpstr>导入语音听写接口调用模块和库</vt:lpstr>
      <vt:lpstr>§3 智能语音聊天系统实战</vt:lpstr>
      <vt:lpstr>给出讯飞开放平台语音听写接口相关信息 </vt:lpstr>
      <vt:lpstr>§3 智能语音聊天系统实战</vt:lpstr>
      <vt:lpstr>使用语音听写接口调用模块获取结果</vt:lpstr>
      <vt:lpstr>使用语音听写接口调用模块获取结果</vt:lpstr>
      <vt:lpstr>使用语音听写接口调用模块获取结果</vt:lpstr>
      <vt:lpstr>使用语音听写接口调用模块获取结果</vt:lpstr>
      <vt:lpstr>§3 智能语音聊天系统实战</vt:lpstr>
      <vt:lpstr>前端页面文件说明</vt:lpstr>
      <vt:lpstr>前端页面文件说明</vt:lpstr>
      <vt:lpstr>§3 智能语音聊天系统实战</vt:lpstr>
      <vt:lpstr>实战效果及评价 </vt:lpstr>
      <vt:lpstr>实战效果及评价</vt:lpstr>
      <vt:lpstr>实战效果及评价 </vt:lpstr>
      <vt:lpstr>实战效果及评价 </vt:lpstr>
      <vt:lpstr>谢谢大家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叶浩</cp:lastModifiedBy>
  <cp:revision>1648</cp:revision>
  <dcterms:created xsi:type="dcterms:W3CDTF">2015-07-08T10:50:00Z</dcterms:created>
  <dcterms:modified xsi:type="dcterms:W3CDTF">2025-10-13T05:55:53Z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EC13D63B16DC41BCA4B6D9C9B66E9422_12</vt:lpwstr>
  </property>
</Properties>
</file>